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7" r:id="rId2"/>
    <p:sldId id="258" r:id="rId3"/>
    <p:sldId id="334" r:id="rId4"/>
    <p:sldId id="373" r:id="rId5"/>
    <p:sldId id="359" r:id="rId6"/>
    <p:sldId id="372" r:id="rId7"/>
    <p:sldId id="360" r:id="rId8"/>
    <p:sldId id="361" r:id="rId9"/>
    <p:sldId id="362" r:id="rId10"/>
    <p:sldId id="363" r:id="rId11"/>
    <p:sldId id="364" r:id="rId12"/>
    <p:sldId id="365" r:id="rId13"/>
    <p:sldId id="366" r:id="rId14"/>
    <p:sldId id="367" r:id="rId15"/>
    <p:sldId id="368" r:id="rId16"/>
    <p:sldId id="337" r:id="rId17"/>
    <p:sldId id="374" r:id="rId18"/>
    <p:sldId id="338" r:id="rId19"/>
    <p:sldId id="262" r:id="rId20"/>
    <p:sldId id="339" r:id="rId21"/>
    <p:sldId id="340" r:id="rId22"/>
    <p:sldId id="341" r:id="rId23"/>
    <p:sldId id="369" r:id="rId24"/>
    <p:sldId id="370" r:id="rId25"/>
    <p:sldId id="371" r:id="rId26"/>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4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27"/>
    <p:restoredTop sz="94671"/>
  </p:normalViewPr>
  <p:slideViewPr>
    <p:cSldViewPr showGuides="1">
      <p:cViewPr varScale="1">
        <p:scale>
          <a:sx n="109" d="100"/>
          <a:sy n="109" d="100"/>
        </p:scale>
        <p:origin x="1332" y="114"/>
      </p:cViewPr>
      <p:guideLst>
        <p:guide orient="horz" pos="2160"/>
        <p:guide pos="2841"/>
      </p:guideLst>
    </p:cSldViewPr>
  </p:slid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25FB06D-F8A7-4DDD-9EEE-7FDB013DCABF}" type="doc">
      <dgm:prSet loTypeId="urn:microsoft.com/office/officeart/2005/8/layout/arrow2" loCatId="process" qsTypeId="urn:microsoft.com/office/officeart/2005/8/quickstyle/simple1" qsCatId="simple" csTypeId="urn:microsoft.com/office/officeart/2005/8/colors/accent1_2" csCatId="accent1" phldr="1"/>
      <dgm:spPr/>
    </dgm:pt>
    <dgm:pt modelId="{5D28D3C0-74BB-482A-8CE2-675FA340D193}">
      <dgm:prSet phldrT="[文本]" custT="1"/>
      <dgm:spPr/>
      <dgm:t>
        <a:bodyPr/>
        <a:lstStyle/>
        <a:p>
          <a:r>
            <a:rPr lang="zh-CN" altLang="en-US" sz="2400" dirty="0" smtClean="0"/>
            <a:t>西学东渐“告白”、“报帖”、“广告”</a:t>
          </a:r>
          <a:endParaRPr lang="zh-CN" altLang="en-US" sz="2400" dirty="0"/>
        </a:p>
      </dgm:t>
    </dgm:pt>
    <dgm:pt modelId="{F8F5D55C-F9D7-481B-BDC4-B8066D7F3A31}" type="parTrans" cxnId="{23E488AE-0D6E-4756-A0FD-C29FD823DAEC}">
      <dgm:prSet/>
      <dgm:spPr/>
      <dgm:t>
        <a:bodyPr/>
        <a:lstStyle/>
        <a:p>
          <a:endParaRPr lang="zh-CN" altLang="en-US" sz="2800"/>
        </a:p>
      </dgm:t>
    </dgm:pt>
    <dgm:pt modelId="{0FCF86A1-24EA-462A-A0D3-5096B8050C46}" type="sibTrans" cxnId="{23E488AE-0D6E-4756-A0FD-C29FD823DAEC}">
      <dgm:prSet/>
      <dgm:spPr/>
      <dgm:t>
        <a:bodyPr/>
        <a:lstStyle/>
        <a:p>
          <a:endParaRPr lang="zh-CN" altLang="en-US" sz="2800"/>
        </a:p>
      </dgm:t>
    </dgm:pt>
    <dgm:pt modelId="{D48C7771-3ADB-449F-BCF3-B8BF1009F082}">
      <dgm:prSet phldrT="[文本]" custT="1"/>
      <dgm:spPr/>
      <dgm:t>
        <a:bodyPr/>
        <a:lstStyle/>
        <a:p>
          <a:r>
            <a:rPr lang="zh-CN" altLang="en-US" sz="2400" dirty="0" smtClean="0"/>
            <a:t>社会主义广告</a:t>
          </a:r>
          <a:endParaRPr lang="zh-CN" altLang="en-US" sz="2400" dirty="0"/>
        </a:p>
      </dgm:t>
    </dgm:pt>
    <dgm:pt modelId="{1C114F5D-95D0-4433-AA5F-6DBADABF9EB1}" type="parTrans" cxnId="{A2EF1A0C-FAE6-4210-8CD2-6CB5F1DF5294}">
      <dgm:prSet/>
      <dgm:spPr/>
      <dgm:t>
        <a:bodyPr/>
        <a:lstStyle/>
        <a:p>
          <a:endParaRPr lang="zh-CN" altLang="en-US" sz="2800"/>
        </a:p>
      </dgm:t>
    </dgm:pt>
    <dgm:pt modelId="{E4B44125-32EF-4823-845D-F5FE379EA176}" type="sibTrans" cxnId="{A2EF1A0C-FAE6-4210-8CD2-6CB5F1DF5294}">
      <dgm:prSet/>
      <dgm:spPr/>
      <dgm:t>
        <a:bodyPr/>
        <a:lstStyle/>
        <a:p>
          <a:endParaRPr lang="zh-CN" altLang="en-US" sz="2800"/>
        </a:p>
      </dgm:t>
    </dgm:pt>
    <dgm:pt modelId="{6C56FC4D-8C31-412A-926E-529C497E81BA}">
      <dgm:prSet phldrT="[文本]" custT="1"/>
      <dgm:spPr/>
      <dgm:t>
        <a:bodyPr/>
        <a:lstStyle/>
        <a:p>
          <a:r>
            <a:rPr lang="zh-CN" altLang="en-US" sz="2400" dirty="0" smtClean="0"/>
            <a:t>新阶段，“本土化”与“国际化”</a:t>
          </a:r>
          <a:endParaRPr lang="zh-CN" altLang="en-US" sz="2400" dirty="0"/>
        </a:p>
      </dgm:t>
    </dgm:pt>
    <dgm:pt modelId="{CC9D4F9C-1299-449D-90C9-5792838B05C2}" type="parTrans" cxnId="{F0823294-995F-402B-9671-BB33AE49E6B0}">
      <dgm:prSet/>
      <dgm:spPr/>
      <dgm:t>
        <a:bodyPr/>
        <a:lstStyle/>
        <a:p>
          <a:endParaRPr lang="zh-CN" altLang="en-US" sz="2800"/>
        </a:p>
      </dgm:t>
    </dgm:pt>
    <dgm:pt modelId="{ABBA4FD4-3E05-41A9-8267-9E543D659B25}" type="sibTrans" cxnId="{F0823294-995F-402B-9671-BB33AE49E6B0}">
      <dgm:prSet/>
      <dgm:spPr/>
      <dgm:t>
        <a:bodyPr/>
        <a:lstStyle/>
        <a:p>
          <a:endParaRPr lang="zh-CN" altLang="en-US" sz="2800"/>
        </a:p>
      </dgm:t>
    </dgm:pt>
    <dgm:pt modelId="{A924DAA2-6AAD-480A-BC11-FF3C6E853A0B}">
      <dgm:prSet custT="1"/>
      <dgm:spPr/>
      <dgm:t>
        <a:bodyPr/>
        <a:lstStyle/>
        <a:p>
          <a:r>
            <a:rPr lang="zh-CN" altLang="en-US" sz="2400" dirty="0" smtClean="0"/>
            <a:t>“术”向“学”转变</a:t>
          </a:r>
          <a:endParaRPr lang="zh-CN" altLang="en-US" sz="2400" dirty="0"/>
        </a:p>
      </dgm:t>
    </dgm:pt>
    <dgm:pt modelId="{8739ACD4-74EC-4250-94AC-BEAE85A1E8C9}" type="parTrans" cxnId="{90BC3FA0-8B86-4C14-A311-8CE600890A59}">
      <dgm:prSet/>
      <dgm:spPr/>
      <dgm:t>
        <a:bodyPr/>
        <a:lstStyle/>
        <a:p>
          <a:endParaRPr lang="zh-CN" altLang="en-US" sz="2800"/>
        </a:p>
      </dgm:t>
    </dgm:pt>
    <dgm:pt modelId="{2A22D05E-1C66-4311-AEA7-B8F3030C11CC}" type="sibTrans" cxnId="{90BC3FA0-8B86-4C14-A311-8CE600890A59}">
      <dgm:prSet/>
      <dgm:spPr/>
      <dgm:t>
        <a:bodyPr/>
        <a:lstStyle/>
        <a:p>
          <a:endParaRPr lang="zh-CN" altLang="en-US" sz="2800"/>
        </a:p>
      </dgm:t>
    </dgm:pt>
    <dgm:pt modelId="{631168F0-61A8-4632-9AB3-5335A3FB3EE1}" type="pres">
      <dgm:prSet presAssocID="{E25FB06D-F8A7-4DDD-9EEE-7FDB013DCABF}" presName="arrowDiagram" presStyleCnt="0">
        <dgm:presLayoutVars>
          <dgm:chMax val="5"/>
          <dgm:dir/>
          <dgm:resizeHandles val="exact"/>
        </dgm:presLayoutVars>
      </dgm:prSet>
      <dgm:spPr/>
    </dgm:pt>
    <dgm:pt modelId="{23AAC997-8EFF-46E3-9A0C-56CBABDCAB00}" type="pres">
      <dgm:prSet presAssocID="{E25FB06D-F8A7-4DDD-9EEE-7FDB013DCABF}" presName="arrow" presStyleLbl="bgShp" presStyleIdx="0" presStyleCnt="1"/>
      <dgm:spPr/>
      <dgm:t>
        <a:bodyPr/>
        <a:lstStyle/>
        <a:p>
          <a:endParaRPr lang="zh-CN" altLang="en-US"/>
        </a:p>
      </dgm:t>
    </dgm:pt>
    <dgm:pt modelId="{63C00B46-5F8B-4E5E-8639-23CFE03B576F}" type="pres">
      <dgm:prSet presAssocID="{E25FB06D-F8A7-4DDD-9EEE-7FDB013DCABF}" presName="arrowDiagram4" presStyleCnt="0"/>
      <dgm:spPr/>
    </dgm:pt>
    <dgm:pt modelId="{5CA2FDD8-4DEE-4906-B970-961430E6A93C}" type="pres">
      <dgm:prSet presAssocID="{5D28D3C0-74BB-482A-8CE2-675FA340D193}" presName="bullet4a" presStyleLbl="node1" presStyleIdx="0" presStyleCnt="4"/>
      <dgm:spPr/>
    </dgm:pt>
    <dgm:pt modelId="{9EDA07B5-F9B3-47E1-B6AC-C00E32192A11}" type="pres">
      <dgm:prSet presAssocID="{5D28D3C0-74BB-482A-8CE2-675FA340D193}" presName="textBox4a" presStyleLbl="revTx" presStyleIdx="0" presStyleCnt="4" custScaleX="200715">
        <dgm:presLayoutVars>
          <dgm:bulletEnabled val="1"/>
        </dgm:presLayoutVars>
      </dgm:prSet>
      <dgm:spPr/>
      <dgm:t>
        <a:bodyPr/>
        <a:lstStyle/>
        <a:p>
          <a:endParaRPr lang="zh-CN" altLang="en-US"/>
        </a:p>
      </dgm:t>
    </dgm:pt>
    <dgm:pt modelId="{E3FD131F-3A35-479E-B209-8A1CC9E1BA90}" type="pres">
      <dgm:prSet presAssocID="{A924DAA2-6AAD-480A-BC11-FF3C6E853A0B}" presName="bullet4b" presStyleLbl="node1" presStyleIdx="1" presStyleCnt="4"/>
      <dgm:spPr/>
    </dgm:pt>
    <dgm:pt modelId="{FD39F129-4A59-4711-893D-64F196702D92}" type="pres">
      <dgm:prSet presAssocID="{A924DAA2-6AAD-480A-BC11-FF3C6E853A0B}" presName="textBox4b" presStyleLbl="revTx" presStyleIdx="1" presStyleCnt="4">
        <dgm:presLayoutVars>
          <dgm:bulletEnabled val="1"/>
        </dgm:presLayoutVars>
      </dgm:prSet>
      <dgm:spPr/>
      <dgm:t>
        <a:bodyPr/>
        <a:lstStyle/>
        <a:p>
          <a:endParaRPr lang="zh-CN" altLang="en-US"/>
        </a:p>
      </dgm:t>
    </dgm:pt>
    <dgm:pt modelId="{20C6463E-7D8E-497E-BB98-A0E27558FAA8}" type="pres">
      <dgm:prSet presAssocID="{D48C7771-3ADB-449F-BCF3-B8BF1009F082}" presName="bullet4c" presStyleLbl="node1" presStyleIdx="2" presStyleCnt="4"/>
      <dgm:spPr/>
    </dgm:pt>
    <dgm:pt modelId="{205149C4-B5F2-4076-B929-F53789BC3302}" type="pres">
      <dgm:prSet presAssocID="{D48C7771-3ADB-449F-BCF3-B8BF1009F082}" presName="textBox4c" presStyleLbl="revTx" presStyleIdx="2" presStyleCnt="4">
        <dgm:presLayoutVars>
          <dgm:bulletEnabled val="1"/>
        </dgm:presLayoutVars>
      </dgm:prSet>
      <dgm:spPr/>
      <dgm:t>
        <a:bodyPr/>
        <a:lstStyle/>
        <a:p>
          <a:endParaRPr lang="zh-CN" altLang="en-US"/>
        </a:p>
      </dgm:t>
    </dgm:pt>
    <dgm:pt modelId="{11F861D9-3015-4488-A0DE-EA955698E120}" type="pres">
      <dgm:prSet presAssocID="{6C56FC4D-8C31-412A-926E-529C497E81BA}" presName="bullet4d" presStyleLbl="node1" presStyleIdx="3" presStyleCnt="4"/>
      <dgm:spPr/>
    </dgm:pt>
    <dgm:pt modelId="{B3967474-A80B-49B8-A462-0ADC1599D95A}" type="pres">
      <dgm:prSet presAssocID="{6C56FC4D-8C31-412A-926E-529C497E81BA}" presName="textBox4d" presStyleLbl="revTx" presStyleIdx="3" presStyleCnt="4">
        <dgm:presLayoutVars>
          <dgm:bulletEnabled val="1"/>
        </dgm:presLayoutVars>
      </dgm:prSet>
      <dgm:spPr/>
      <dgm:t>
        <a:bodyPr/>
        <a:lstStyle/>
        <a:p>
          <a:endParaRPr lang="zh-CN" altLang="en-US"/>
        </a:p>
      </dgm:t>
    </dgm:pt>
  </dgm:ptLst>
  <dgm:cxnLst>
    <dgm:cxn modelId="{A2EF1A0C-FAE6-4210-8CD2-6CB5F1DF5294}" srcId="{E25FB06D-F8A7-4DDD-9EEE-7FDB013DCABF}" destId="{D48C7771-3ADB-449F-BCF3-B8BF1009F082}" srcOrd="2" destOrd="0" parTransId="{1C114F5D-95D0-4433-AA5F-6DBADABF9EB1}" sibTransId="{E4B44125-32EF-4823-845D-F5FE379EA176}"/>
    <dgm:cxn modelId="{449528D5-0454-FC4B-B325-800E33BF7F2A}" type="presOf" srcId="{5D28D3C0-74BB-482A-8CE2-675FA340D193}" destId="{9EDA07B5-F9B3-47E1-B6AC-C00E32192A11}" srcOrd="0" destOrd="0" presId="urn:microsoft.com/office/officeart/2005/8/layout/arrow2"/>
    <dgm:cxn modelId="{23E488AE-0D6E-4756-A0FD-C29FD823DAEC}" srcId="{E25FB06D-F8A7-4DDD-9EEE-7FDB013DCABF}" destId="{5D28D3C0-74BB-482A-8CE2-675FA340D193}" srcOrd="0" destOrd="0" parTransId="{F8F5D55C-F9D7-481B-BDC4-B8066D7F3A31}" sibTransId="{0FCF86A1-24EA-462A-A0D3-5096B8050C46}"/>
    <dgm:cxn modelId="{90BC3FA0-8B86-4C14-A311-8CE600890A59}" srcId="{E25FB06D-F8A7-4DDD-9EEE-7FDB013DCABF}" destId="{A924DAA2-6AAD-480A-BC11-FF3C6E853A0B}" srcOrd="1" destOrd="0" parTransId="{8739ACD4-74EC-4250-94AC-BEAE85A1E8C9}" sibTransId="{2A22D05E-1C66-4311-AEA7-B8F3030C11CC}"/>
    <dgm:cxn modelId="{31B761DC-A5D2-3047-AC54-BDBE013A71B0}" type="presOf" srcId="{D48C7771-3ADB-449F-BCF3-B8BF1009F082}" destId="{205149C4-B5F2-4076-B929-F53789BC3302}" srcOrd="0" destOrd="0" presId="urn:microsoft.com/office/officeart/2005/8/layout/arrow2"/>
    <dgm:cxn modelId="{F0823294-995F-402B-9671-BB33AE49E6B0}" srcId="{E25FB06D-F8A7-4DDD-9EEE-7FDB013DCABF}" destId="{6C56FC4D-8C31-412A-926E-529C497E81BA}" srcOrd="3" destOrd="0" parTransId="{CC9D4F9C-1299-449D-90C9-5792838B05C2}" sibTransId="{ABBA4FD4-3E05-41A9-8267-9E543D659B25}"/>
    <dgm:cxn modelId="{CA96D9E7-D19F-4440-9D91-62C0C2C1AD9B}" type="presOf" srcId="{E25FB06D-F8A7-4DDD-9EEE-7FDB013DCABF}" destId="{631168F0-61A8-4632-9AB3-5335A3FB3EE1}" srcOrd="0" destOrd="0" presId="urn:microsoft.com/office/officeart/2005/8/layout/arrow2"/>
    <dgm:cxn modelId="{EB8FC810-1E6A-CB4F-B0FD-F7099C51850A}" type="presOf" srcId="{6C56FC4D-8C31-412A-926E-529C497E81BA}" destId="{B3967474-A80B-49B8-A462-0ADC1599D95A}" srcOrd="0" destOrd="0" presId="urn:microsoft.com/office/officeart/2005/8/layout/arrow2"/>
    <dgm:cxn modelId="{D9ED8FD0-9865-904E-ACE3-B4AAA34F4D5E}" type="presOf" srcId="{A924DAA2-6AAD-480A-BC11-FF3C6E853A0B}" destId="{FD39F129-4A59-4711-893D-64F196702D92}" srcOrd="0" destOrd="0" presId="urn:microsoft.com/office/officeart/2005/8/layout/arrow2"/>
    <dgm:cxn modelId="{5579BBCC-F213-F641-8AA6-6FE48C2BDEAE}" type="presParOf" srcId="{631168F0-61A8-4632-9AB3-5335A3FB3EE1}" destId="{23AAC997-8EFF-46E3-9A0C-56CBABDCAB00}" srcOrd="0" destOrd="0" presId="urn:microsoft.com/office/officeart/2005/8/layout/arrow2"/>
    <dgm:cxn modelId="{E5E5D04F-BA18-E146-9832-17FDE7F55189}" type="presParOf" srcId="{631168F0-61A8-4632-9AB3-5335A3FB3EE1}" destId="{63C00B46-5F8B-4E5E-8639-23CFE03B576F}" srcOrd="1" destOrd="0" presId="urn:microsoft.com/office/officeart/2005/8/layout/arrow2"/>
    <dgm:cxn modelId="{4055B16E-D804-D841-94C9-A55F84192485}" type="presParOf" srcId="{63C00B46-5F8B-4E5E-8639-23CFE03B576F}" destId="{5CA2FDD8-4DEE-4906-B970-961430E6A93C}" srcOrd="0" destOrd="0" presId="urn:microsoft.com/office/officeart/2005/8/layout/arrow2"/>
    <dgm:cxn modelId="{2AFA6ED1-AEF1-BB40-897D-D0E36EAE99AB}" type="presParOf" srcId="{63C00B46-5F8B-4E5E-8639-23CFE03B576F}" destId="{9EDA07B5-F9B3-47E1-B6AC-C00E32192A11}" srcOrd="1" destOrd="0" presId="urn:microsoft.com/office/officeart/2005/8/layout/arrow2"/>
    <dgm:cxn modelId="{58033990-B59F-9E44-9532-2E2DA7F37F52}" type="presParOf" srcId="{63C00B46-5F8B-4E5E-8639-23CFE03B576F}" destId="{E3FD131F-3A35-479E-B209-8A1CC9E1BA90}" srcOrd="2" destOrd="0" presId="urn:microsoft.com/office/officeart/2005/8/layout/arrow2"/>
    <dgm:cxn modelId="{096E742B-2A41-474E-A2EC-10C9A2E63AF0}" type="presParOf" srcId="{63C00B46-5F8B-4E5E-8639-23CFE03B576F}" destId="{FD39F129-4A59-4711-893D-64F196702D92}" srcOrd="3" destOrd="0" presId="urn:microsoft.com/office/officeart/2005/8/layout/arrow2"/>
    <dgm:cxn modelId="{41330F1A-ED1B-BF40-A445-22428D4B4C54}" type="presParOf" srcId="{63C00B46-5F8B-4E5E-8639-23CFE03B576F}" destId="{20C6463E-7D8E-497E-BB98-A0E27558FAA8}" srcOrd="4" destOrd="0" presId="urn:microsoft.com/office/officeart/2005/8/layout/arrow2"/>
    <dgm:cxn modelId="{1DD2723C-B04B-2C4C-BC9E-2816472B5E0B}" type="presParOf" srcId="{63C00B46-5F8B-4E5E-8639-23CFE03B576F}" destId="{205149C4-B5F2-4076-B929-F53789BC3302}" srcOrd="5" destOrd="0" presId="urn:microsoft.com/office/officeart/2005/8/layout/arrow2"/>
    <dgm:cxn modelId="{E9C39B87-8F35-E042-B86F-B089622CAAD4}" type="presParOf" srcId="{63C00B46-5F8B-4E5E-8639-23CFE03B576F}" destId="{11F861D9-3015-4488-A0DE-EA955698E120}" srcOrd="6" destOrd="0" presId="urn:microsoft.com/office/officeart/2005/8/layout/arrow2"/>
    <dgm:cxn modelId="{6B5EC9E9-9E4D-B345-AAEF-475CCB877146}" type="presParOf" srcId="{63C00B46-5F8B-4E5E-8639-23CFE03B576F}" destId="{B3967474-A80B-49B8-A462-0ADC1599D95A}" srcOrd="7" destOrd="0" presId="urn:microsoft.com/office/officeart/2005/8/layout/arrow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AAC997-8EFF-46E3-9A0C-56CBABDCAB00}">
      <dsp:nvSpPr>
        <dsp:cNvPr id="0" name=""/>
        <dsp:cNvSpPr/>
      </dsp:nvSpPr>
      <dsp:spPr>
        <a:xfrm>
          <a:off x="709239" y="0"/>
          <a:ext cx="6502400" cy="4064000"/>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A2FDD8-4DEE-4906-B970-961430E6A93C}">
      <dsp:nvSpPr>
        <dsp:cNvPr id="0" name=""/>
        <dsp:cNvSpPr/>
      </dsp:nvSpPr>
      <dsp:spPr>
        <a:xfrm>
          <a:off x="1349726" y="3021990"/>
          <a:ext cx="149555" cy="14955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DA07B5-F9B3-47E1-B6AC-C00E32192A11}">
      <dsp:nvSpPr>
        <dsp:cNvPr id="0" name=""/>
        <dsp:cNvSpPr/>
      </dsp:nvSpPr>
      <dsp:spPr>
        <a:xfrm>
          <a:off x="864573" y="3096768"/>
          <a:ext cx="2231770" cy="9672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246" tIns="0" rIns="0" bIns="0" numCol="1" spcCol="1270" anchor="t" anchorCtr="0">
          <a:noAutofit/>
        </a:bodyPr>
        <a:lstStyle/>
        <a:p>
          <a:pPr lvl="0" algn="l" defTabSz="1066800">
            <a:lnSpc>
              <a:spcPct val="90000"/>
            </a:lnSpc>
            <a:spcBef>
              <a:spcPct val="0"/>
            </a:spcBef>
            <a:spcAft>
              <a:spcPct val="35000"/>
            </a:spcAft>
          </a:pPr>
          <a:r>
            <a:rPr lang="zh-CN" altLang="en-US" sz="2400" kern="1200" dirty="0" smtClean="0"/>
            <a:t>西学东渐“告白”、“报帖”、“广告”</a:t>
          </a:r>
          <a:endParaRPr lang="zh-CN" altLang="en-US" sz="2400" kern="1200" dirty="0"/>
        </a:p>
      </dsp:txBody>
      <dsp:txXfrm>
        <a:off x="864573" y="3096768"/>
        <a:ext cx="2231770" cy="967232"/>
      </dsp:txXfrm>
    </dsp:sp>
    <dsp:sp modelId="{E3FD131F-3A35-479E-B209-8A1CC9E1BA90}">
      <dsp:nvSpPr>
        <dsp:cNvPr id="0" name=""/>
        <dsp:cNvSpPr/>
      </dsp:nvSpPr>
      <dsp:spPr>
        <a:xfrm>
          <a:off x="2406366" y="2076703"/>
          <a:ext cx="260096" cy="26009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39F129-4A59-4711-893D-64F196702D92}">
      <dsp:nvSpPr>
        <dsp:cNvPr id="0" name=""/>
        <dsp:cNvSpPr/>
      </dsp:nvSpPr>
      <dsp:spPr>
        <a:xfrm>
          <a:off x="2536414" y="2206751"/>
          <a:ext cx="1365504" cy="1857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819" tIns="0" rIns="0" bIns="0" numCol="1" spcCol="1270" anchor="t" anchorCtr="0">
          <a:noAutofit/>
        </a:bodyPr>
        <a:lstStyle/>
        <a:p>
          <a:pPr lvl="0" algn="l" defTabSz="1066800">
            <a:lnSpc>
              <a:spcPct val="90000"/>
            </a:lnSpc>
            <a:spcBef>
              <a:spcPct val="0"/>
            </a:spcBef>
            <a:spcAft>
              <a:spcPct val="35000"/>
            </a:spcAft>
          </a:pPr>
          <a:r>
            <a:rPr lang="zh-CN" altLang="en-US" sz="2400" kern="1200" dirty="0" smtClean="0"/>
            <a:t>“术”向“学”转变</a:t>
          </a:r>
          <a:endParaRPr lang="zh-CN" altLang="en-US" sz="2400" kern="1200" dirty="0"/>
        </a:p>
      </dsp:txBody>
      <dsp:txXfrm>
        <a:off x="2536414" y="2206751"/>
        <a:ext cx="1365504" cy="1857248"/>
      </dsp:txXfrm>
    </dsp:sp>
    <dsp:sp modelId="{20C6463E-7D8E-497E-BB98-A0E27558FAA8}">
      <dsp:nvSpPr>
        <dsp:cNvPr id="0" name=""/>
        <dsp:cNvSpPr/>
      </dsp:nvSpPr>
      <dsp:spPr>
        <a:xfrm>
          <a:off x="3755614" y="1380134"/>
          <a:ext cx="344627" cy="34462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5149C4-B5F2-4076-B929-F53789BC3302}">
      <dsp:nvSpPr>
        <dsp:cNvPr id="0" name=""/>
        <dsp:cNvSpPr/>
      </dsp:nvSpPr>
      <dsp:spPr>
        <a:xfrm>
          <a:off x="3927928" y="1552447"/>
          <a:ext cx="1365504" cy="2511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611" tIns="0" rIns="0" bIns="0" numCol="1" spcCol="1270" anchor="t" anchorCtr="0">
          <a:noAutofit/>
        </a:bodyPr>
        <a:lstStyle/>
        <a:p>
          <a:pPr lvl="0" algn="l" defTabSz="1066800">
            <a:lnSpc>
              <a:spcPct val="90000"/>
            </a:lnSpc>
            <a:spcBef>
              <a:spcPct val="0"/>
            </a:spcBef>
            <a:spcAft>
              <a:spcPct val="35000"/>
            </a:spcAft>
          </a:pPr>
          <a:r>
            <a:rPr lang="zh-CN" altLang="en-US" sz="2400" kern="1200" dirty="0" smtClean="0"/>
            <a:t>社会主义广告</a:t>
          </a:r>
          <a:endParaRPr lang="zh-CN" altLang="en-US" sz="2400" kern="1200" dirty="0"/>
        </a:p>
      </dsp:txBody>
      <dsp:txXfrm>
        <a:off x="3927928" y="1552447"/>
        <a:ext cx="1365504" cy="2511552"/>
      </dsp:txXfrm>
    </dsp:sp>
    <dsp:sp modelId="{11F861D9-3015-4488-A0DE-EA955698E120}">
      <dsp:nvSpPr>
        <dsp:cNvPr id="0" name=""/>
        <dsp:cNvSpPr/>
      </dsp:nvSpPr>
      <dsp:spPr>
        <a:xfrm>
          <a:off x="5225156" y="919276"/>
          <a:ext cx="461670" cy="46167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967474-A80B-49B8-A462-0ADC1599D95A}">
      <dsp:nvSpPr>
        <dsp:cNvPr id="0" name=""/>
        <dsp:cNvSpPr/>
      </dsp:nvSpPr>
      <dsp:spPr>
        <a:xfrm>
          <a:off x="5455992" y="1150111"/>
          <a:ext cx="1365504" cy="29138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4630" tIns="0" rIns="0" bIns="0" numCol="1" spcCol="1270" anchor="t" anchorCtr="0">
          <a:noAutofit/>
        </a:bodyPr>
        <a:lstStyle/>
        <a:p>
          <a:pPr lvl="0" algn="l" defTabSz="1066800">
            <a:lnSpc>
              <a:spcPct val="90000"/>
            </a:lnSpc>
            <a:spcBef>
              <a:spcPct val="0"/>
            </a:spcBef>
            <a:spcAft>
              <a:spcPct val="35000"/>
            </a:spcAft>
          </a:pPr>
          <a:r>
            <a:rPr lang="zh-CN" altLang="en-US" sz="2400" kern="1200" dirty="0" smtClean="0"/>
            <a:t>新阶段，“本土化”与“国际化”</a:t>
          </a:r>
          <a:endParaRPr lang="zh-CN" altLang="en-US" sz="2400" kern="1200" dirty="0"/>
        </a:p>
      </dsp:txBody>
      <dsp:txXfrm>
        <a:off x="5455992" y="1150111"/>
        <a:ext cx="1365504" cy="2913888"/>
      </dsp:txXfrm>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9AF1DE-87E7-914B-AE0E-561336043EEE}" type="datetimeFigureOut">
              <a:rPr kumimoji="1" lang="zh-CN" altLang="en-US" smtClean="0"/>
              <a:t>2025/9/11</a:t>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4106A5-FF69-F748-A2FD-D4B91F78B8A3}" type="slidenum">
              <a:rPr kumimoji="1" lang="zh-CN" altLang="en-US" smtClean="0"/>
              <a:t>‹#›</a:t>
            </a:fld>
            <a:endParaRPr kumimoji="1" lang="zh-CN" altLang="en-US"/>
          </a:p>
        </p:txBody>
      </p:sp>
    </p:spTree>
    <p:extLst>
      <p:ext uri="{BB962C8B-B14F-4D97-AF65-F5344CB8AC3E}">
        <p14:creationId xmlns:p14="http://schemas.microsoft.com/office/powerpoint/2010/main" val="1829121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C94106A5-FF69-F748-A2FD-D4B91F78B8A3}" type="slidenum">
              <a:rPr kumimoji="1" lang="zh-CN" altLang="en-US" smtClean="0"/>
              <a:t>18</a:t>
            </a:fld>
            <a:endParaRPr kumimoji="1" lang="zh-CN" altLang="en-US"/>
          </a:p>
        </p:txBody>
      </p:sp>
    </p:spTree>
    <p:extLst>
      <p:ext uri="{BB962C8B-B14F-4D97-AF65-F5344CB8AC3E}">
        <p14:creationId xmlns:p14="http://schemas.microsoft.com/office/powerpoint/2010/main" val="824559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692696"/>
            <a:ext cx="6858000" cy="2387600"/>
          </a:xfrm>
          <a:prstGeom prst="rect">
            <a:avLst/>
          </a:prstGeom>
        </p:spPr>
        <p:txBody>
          <a:bodyPr anchor="b"/>
          <a:lstStyle>
            <a:lvl1pPr algn="ctr">
              <a:defRPr sz="4000">
                <a:solidFill>
                  <a:schemeClr val="bg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043608" y="494116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2"/>
          </p:nvPr>
        </p:nvSpPr>
        <p:spPr>
          <a:xfrm>
            <a:off x="457200" y="6245225"/>
            <a:ext cx="2133600" cy="476250"/>
          </a:xfrm>
          <a:prstGeom prst="rect">
            <a:avLst/>
          </a:prstGeom>
        </p:spPr>
        <p:txBody>
          <a:bodyPr/>
          <a:lstStyle>
            <a:lvl1pPr>
              <a:defRPr>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3"/>
          </p:nvPr>
        </p:nvSpPr>
        <p:spPr>
          <a:xfrm>
            <a:off x="3124200" y="6245225"/>
            <a:ext cx="2895600" cy="476250"/>
          </a:xfrm>
          <a:prstGeom prst="rect">
            <a:avLst/>
          </a:prstGeom>
        </p:spPr>
        <p:txBody>
          <a:bodyPr/>
          <a:lstStyle>
            <a:lvl1pPr>
              <a:defRPr>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553200" y="6245225"/>
            <a:ext cx="2133600" cy="476250"/>
          </a:xfrm>
          <a:prstGeom prst="rect">
            <a:avLst/>
          </a:prstGeom>
        </p:spPr>
        <p:txBody>
          <a:bodyPr vert="horz" wrap="square" lIns="91440" tIns="45720" rIns="91440" bIns="45720" numCol="1" anchor="t" anchorCtr="0" compatLnSpc="1"/>
          <a:lstStyle/>
          <a:p>
            <a:pPr lvl="0"/>
            <a:fld id="{9A0DB2DC-4C9A-4742-B13C-FB6460FD3503}" type="slidenum">
              <a:rPr lang="en-US" altLang="zh-CN" dirty="0"/>
              <a:t>‹#›</a:t>
            </a:fld>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79512" y="0"/>
            <a:ext cx="7992888" cy="836712"/>
          </a:xfrm>
          <a:prstGeom prst="rect">
            <a:avLst/>
          </a:prstGeom>
        </p:spPr>
        <p:txBody>
          <a:bodyPr/>
          <a:lstStyle>
            <a:lvl1pPr algn="l">
              <a:defRPr sz="3600">
                <a:solidFill>
                  <a:schemeClr val="bg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395536" y="1379909"/>
            <a:ext cx="8229600" cy="5145435"/>
          </a:xfrm>
          <a:prstGeom prst="rect">
            <a:avLst/>
          </a:prstGeom>
        </p:spPr>
        <p:txBody>
          <a:bodyPr/>
          <a:lstStyle>
            <a:lvl1pPr>
              <a:defRPr sz="2800"/>
            </a:lvl1pPr>
            <a:lvl2pPr>
              <a:defRPr>
                <a:solidFill>
                  <a:srgbClr val="C00000"/>
                </a:solidFill>
              </a:defRPr>
            </a:lvl2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4">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jp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title"/>
          </p:nvPr>
        </p:nvSpPr>
        <p:spPr>
          <a:xfrm>
            <a:off x="179388" y="144463"/>
            <a:ext cx="7993062" cy="981075"/>
          </a:xfrm>
          <a:noFill/>
          <a:ln>
            <a:noFill/>
          </a:ln>
        </p:spPr>
        <p:txBody>
          <a:bodyPr/>
          <a:lstStyle/>
          <a:p>
            <a:pPr algn="ctr"/>
            <a:r>
              <a:rPr lang="zh-CN" altLang="en-US" sz="3200" b="1" smtClean="0">
                <a:solidFill>
                  <a:schemeClr val="tx1"/>
                </a:solidFill>
                <a:latin typeface="微软雅黑" panose="020B0503020204020204" pitchFamily="34" charset="-122"/>
                <a:ea typeface="微软雅黑" panose="020B0503020204020204" pitchFamily="34" charset="-122"/>
              </a:rPr>
              <a:t>绪  论</a:t>
            </a:r>
            <a:endParaRPr lang="zh-CN" altLang="en-US" kern="1200" dirty="0">
              <a:solidFill>
                <a:schemeClr val="tx1"/>
              </a:solidFill>
            </a:endParaRPr>
          </a:p>
        </p:txBody>
      </p:sp>
      <p:sp>
        <p:nvSpPr>
          <p:cNvPr id="3075" name="内容占位符 2"/>
          <p:cNvSpPr>
            <a:spLocks noGrp="1"/>
          </p:cNvSpPr>
          <p:nvPr>
            <p:ph idx="1"/>
          </p:nvPr>
        </p:nvSpPr>
        <p:spPr>
          <a:xfrm>
            <a:off x="539750" y="1484313"/>
            <a:ext cx="8229600" cy="4824412"/>
          </a:xfrm>
          <a:noFill/>
          <a:ln>
            <a:noFill/>
          </a:ln>
        </p:spPr>
        <p:txBody>
          <a:bodyPr/>
          <a:lstStyle/>
          <a:p>
            <a:pPr marL="0" indent="0">
              <a:buNone/>
            </a:pPr>
            <a:r>
              <a:rPr lang="zh-CN" altLang="zh-CN" sz="1800" b="1" kern="1200" dirty="0"/>
              <a:t>第一节</a:t>
            </a:r>
            <a:r>
              <a:rPr lang="en-US" altLang="zh-CN" sz="1800" b="1" kern="1200" dirty="0"/>
              <a:t>  </a:t>
            </a:r>
            <a:r>
              <a:rPr lang="zh-CN" altLang="en-US" sz="1800" b="1" dirty="0" smtClean="0"/>
              <a:t>广告学的学科体系</a:t>
            </a:r>
            <a:endParaRPr lang="en-US" altLang="zh-CN" sz="1800" b="1" kern="1200" dirty="0" smtClean="0"/>
          </a:p>
          <a:p>
            <a:pPr marL="0" indent="0">
              <a:buNone/>
            </a:pPr>
            <a:r>
              <a:rPr lang="zh-CN" altLang="en-US" sz="1800" b="1" kern="1200" dirty="0" smtClean="0"/>
              <a:t>            ◎</a:t>
            </a:r>
            <a:r>
              <a:rPr lang="zh-CN" altLang="en-US" sz="1800" b="1" dirty="0" smtClean="0"/>
              <a:t>广告学的研究对象   </a:t>
            </a:r>
            <a:r>
              <a:rPr lang="en-US" altLang="zh-CN" sz="1800" b="1" kern="1200" dirty="0" smtClean="0"/>
              <a:t>      </a:t>
            </a:r>
            <a:r>
              <a:rPr lang="zh-CN" altLang="en-US" sz="1800" b="1" dirty="0"/>
              <a:t>◎</a:t>
            </a:r>
            <a:r>
              <a:rPr lang="zh-CN" altLang="en-US" sz="1800" b="1" dirty="0" smtClean="0"/>
              <a:t>广告学的研究方法</a:t>
            </a:r>
            <a:endParaRPr lang="zh-CN" altLang="en-US" sz="1800" b="1" dirty="0"/>
          </a:p>
          <a:p>
            <a:pPr marL="0" indent="0">
              <a:buNone/>
            </a:pPr>
            <a:r>
              <a:rPr lang="zh-CN" altLang="en-US" sz="1800" b="1" kern="1200" dirty="0" smtClean="0"/>
              <a:t>            </a:t>
            </a:r>
            <a:r>
              <a:rPr lang="zh-CN" altLang="en-US" sz="1800" b="1" dirty="0" smtClean="0"/>
              <a:t>◎广告学的学科体系         </a:t>
            </a:r>
            <a:r>
              <a:rPr lang="zh-CN" altLang="en-US" sz="1800" b="1" dirty="0"/>
              <a:t>◎ </a:t>
            </a:r>
            <a:r>
              <a:rPr lang="zh-CN" altLang="en-US" sz="1800" b="1" dirty="0" smtClean="0"/>
              <a:t>学习广告学的意义与方法</a:t>
            </a:r>
            <a:r>
              <a:rPr lang="en-US" altLang="zh-CN" sz="1800" b="1" kern="1200" dirty="0"/>
              <a:t>	</a:t>
            </a:r>
            <a:endParaRPr lang="en-US" altLang="zh-CN" sz="1800" b="1" kern="1200" dirty="0" smtClean="0"/>
          </a:p>
          <a:p>
            <a:pPr marL="0" indent="0">
              <a:buNone/>
            </a:pPr>
            <a:r>
              <a:rPr lang="en-US" altLang="zh-CN" sz="1800" b="1" kern="1200" dirty="0"/>
              <a:t>	</a:t>
            </a:r>
            <a:endParaRPr lang="zh-CN" altLang="zh-CN" sz="1800" b="1" kern="1200" dirty="0"/>
          </a:p>
          <a:p>
            <a:pPr marL="0" indent="0">
              <a:buNone/>
            </a:pPr>
            <a:r>
              <a:rPr lang="zh-CN" altLang="zh-CN" sz="1800" b="1" kern="1200" dirty="0"/>
              <a:t>第二节</a:t>
            </a:r>
            <a:r>
              <a:rPr lang="en-US" altLang="zh-CN" sz="1800" b="1" kern="1200" dirty="0"/>
              <a:t>  </a:t>
            </a:r>
            <a:r>
              <a:rPr lang="zh-CN" altLang="en-US" sz="1800" b="1" dirty="0" smtClean="0"/>
              <a:t>广告学的产生与发展</a:t>
            </a:r>
            <a:endParaRPr lang="en-US" altLang="zh-CN" sz="1800" b="1" kern="1200" dirty="0"/>
          </a:p>
          <a:p>
            <a:pPr marL="0" indent="0">
              <a:buNone/>
            </a:pPr>
            <a:r>
              <a:rPr lang="en-US" altLang="zh-CN" sz="1800" b="1" kern="1200" dirty="0"/>
              <a:t>           </a:t>
            </a:r>
            <a:r>
              <a:rPr lang="zh-CN" altLang="en-US" sz="1800" b="1" kern="1200" dirty="0"/>
              <a:t> </a:t>
            </a:r>
            <a:r>
              <a:rPr lang="zh-CN" altLang="en-US" sz="1800" b="1" kern="1200" dirty="0" smtClean="0"/>
              <a:t>◎</a:t>
            </a:r>
            <a:r>
              <a:rPr lang="zh-CN" altLang="en-US" sz="1800" b="1" dirty="0" smtClean="0"/>
              <a:t>广告学的源起    </a:t>
            </a:r>
            <a:r>
              <a:rPr lang="en-US" altLang="zh-CN" sz="1800" b="1" kern="1200" dirty="0" smtClean="0"/>
              <a:t>      </a:t>
            </a:r>
            <a:r>
              <a:rPr lang="zh-CN" altLang="en-US" sz="1800" b="1" kern="1200" dirty="0" smtClean="0"/>
              <a:t>◎</a:t>
            </a:r>
            <a:r>
              <a:rPr lang="zh-CN" altLang="en-US" sz="1800" b="1" dirty="0" smtClean="0"/>
              <a:t>广告学在中国的发展</a:t>
            </a:r>
            <a:r>
              <a:rPr lang="en-US" altLang="zh-CN" sz="1800" b="1" kern="1200" dirty="0"/>
              <a:t>	</a:t>
            </a:r>
            <a:endParaRPr lang="zh-CN" altLang="zh-CN" sz="1800" b="1" kern="1200" dirty="0"/>
          </a:p>
          <a:p>
            <a:pPr marL="0" indent="0">
              <a:buNone/>
            </a:pPr>
            <a:r>
              <a:rPr lang="zh-CN" altLang="en-US" sz="1800" b="1" kern="1200" dirty="0"/>
              <a:t>            </a:t>
            </a:r>
            <a:r>
              <a:rPr lang="zh-CN" altLang="en-US" sz="1800" b="1" kern="1200" dirty="0" smtClean="0"/>
              <a:t>◎</a:t>
            </a:r>
            <a:r>
              <a:rPr lang="zh-CN" altLang="en-US" sz="1800" b="1" dirty="0" smtClean="0"/>
              <a:t>广告学在国外的发展</a:t>
            </a:r>
            <a:r>
              <a:rPr lang="en-US" altLang="zh-CN" sz="1800" b="1" kern="1200" dirty="0" smtClean="0"/>
              <a:t> </a:t>
            </a:r>
          </a:p>
          <a:p>
            <a:pPr marL="0" indent="0">
              <a:buNone/>
            </a:pPr>
            <a:endParaRPr lang="zh-CN" altLang="zh-CN" sz="1800" b="1" kern="1200" dirty="0"/>
          </a:p>
          <a:p>
            <a:pPr marL="0" indent="0">
              <a:buNone/>
            </a:pPr>
            <a:r>
              <a:rPr lang="zh-CN" altLang="zh-CN" sz="1800" b="1" kern="1200" dirty="0"/>
              <a:t>第三节</a:t>
            </a:r>
            <a:r>
              <a:rPr lang="en-US" altLang="zh-CN" sz="1800" b="1" kern="1200" dirty="0"/>
              <a:t>  </a:t>
            </a:r>
            <a:r>
              <a:rPr lang="zh-CN" altLang="en-US" sz="1800" b="1" kern="1200" dirty="0" smtClean="0"/>
              <a:t>社会主义市场经济与广告学</a:t>
            </a:r>
            <a:r>
              <a:rPr lang="en-US" altLang="zh-CN" sz="1800" b="1" kern="1200" dirty="0"/>
              <a:t>	</a:t>
            </a:r>
            <a:endParaRPr lang="zh-CN" altLang="zh-CN" sz="1800" b="1" kern="1200" dirty="0"/>
          </a:p>
          <a:p>
            <a:pPr marL="0" indent="0">
              <a:buNone/>
            </a:pPr>
            <a:r>
              <a:rPr lang="zh-CN" altLang="en-US" sz="1800" b="1" kern="1200" dirty="0"/>
              <a:t>            </a:t>
            </a:r>
            <a:r>
              <a:rPr lang="zh-CN" altLang="en-US" sz="1800" b="1" kern="1200" dirty="0" smtClean="0"/>
              <a:t>◎</a:t>
            </a:r>
            <a:r>
              <a:rPr lang="zh-CN" altLang="en-US" sz="1800" b="1" dirty="0"/>
              <a:t>社会主义市场经济与广告实践 </a:t>
            </a:r>
            <a:r>
              <a:rPr lang="zh-CN" altLang="en-US" sz="1800" b="1" dirty="0" smtClean="0"/>
              <a:t> </a:t>
            </a:r>
            <a:r>
              <a:rPr lang="zh-CN" altLang="en-US" sz="1800" b="1" kern="1200" dirty="0" smtClean="0"/>
              <a:t>◎</a:t>
            </a:r>
            <a:r>
              <a:rPr lang="zh-CN" altLang="en-US" sz="1800" b="1" dirty="0" smtClean="0"/>
              <a:t>社会主义市场环境与广告观念变迁</a:t>
            </a:r>
            <a:endParaRPr lang="zh-CN" altLang="zh-CN" sz="1800" b="1" kern="1200" dirty="0"/>
          </a:p>
          <a:p>
            <a:pPr marL="0" indent="0">
              <a:buNone/>
            </a:pPr>
            <a:r>
              <a:rPr lang="zh-CN" altLang="en-US" sz="1800" b="1" kern="1200" dirty="0" smtClean="0"/>
              <a:t>            ◎</a:t>
            </a:r>
            <a:r>
              <a:rPr lang="zh-CN" altLang="en-US" sz="1800" b="1" dirty="0" smtClean="0"/>
              <a:t>中国广告价值观</a:t>
            </a:r>
            <a:r>
              <a:rPr lang="en-US" altLang="zh-CN" sz="1800" b="1" kern="1200" dirty="0"/>
              <a:t>	</a:t>
            </a:r>
            <a:endParaRPr lang="zh-CN" altLang="zh-CN" sz="1800" b="1" kern="1200" dirty="0"/>
          </a:p>
          <a:p>
            <a:pPr marL="0" indent="0">
              <a:buNone/>
            </a:pPr>
            <a:r>
              <a:rPr lang="en-US" altLang="zh-CN" sz="1800" b="1" kern="1200" dirty="0">
                <a:solidFill>
                  <a:srgbClr val="FF0000"/>
                </a:solidFill>
              </a:rPr>
              <a:t>	</a:t>
            </a:r>
            <a:endParaRPr lang="zh-CN" altLang="zh-CN" sz="1800" b="1" kern="1200"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a:xfrm>
            <a:off x="179388" y="144463"/>
            <a:ext cx="7993062" cy="836612"/>
          </a:xfrm>
          <a:noFill/>
          <a:ln>
            <a:noFill/>
          </a:ln>
        </p:spPr>
        <p:txBody>
          <a:bodyPr/>
          <a:lstStyle/>
          <a:p>
            <a:pPr algn="ctr"/>
            <a:r>
              <a:rPr lang="zh-CN" altLang="en-US" sz="3200" kern="1200" dirty="0">
                <a:solidFill>
                  <a:schemeClr val="tx1"/>
                </a:solidFill>
                <a:latin typeface="微软雅黑" panose="020B0503020204020204" pitchFamily="34" charset="-122"/>
                <a:ea typeface="微软雅黑" panose="020B0503020204020204" pitchFamily="34" charset="-122"/>
              </a:rPr>
              <a:t>第一</a:t>
            </a:r>
            <a:r>
              <a:rPr lang="zh-CN" altLang="en-US" sz="3200" kern="1200" dirty="0" smtClean="0">
                <a:solidFill>
                  <a:schemeClr val="tx1"/>
                </a:solidFill>
                <a:latin typeface="微软雅黑" panose="020B0503020204020204" pitchFamily="34" charset="-122"/>
                <a:ea typeface="微软雅黑" panose="020B0503020204020204" pitchFamily="34" charset="-122"/>
              </a:rPr>
              <a:t>节</a:t>
            </a:r>
            <a:r>
              <a:rPr lang="zh-CN" altLang="en-US" sz="3200" dirty="0">
                <a:solidFill>
                  <a:schemeClr val="tx1"/>
                </a:solidFill>
                <a:latin typeface="微软雅黑" panose="020B0503020204020204" pitchFamily="34" charset="-122"/>
                <a:ea typeface="微软雅黑" panose="020B0503020204020204" pitchFamily="34" charset="-122"/>
              </a:rPr>
              <a:t> </a:t>
            </a:r>
            <a:r>
              <a:rPr lang="zh-CN" altLang="en-US" sz="3200" dirty="0" smtClean="0">
                <a:solidFill>
                  <a:schemeClr val="tx1"/>
                </a:solidFill>
                <a:latin typeface="微软雅黑" panose="020B0503020204020204" pitchFamily="34" charset="-122"/>
                <a:ea typeface="微软雅黑" panose="020B0503020204020204" pitchFamily="34" charset="-122"/>
              </a:rPr>
              <a:t> 广告学的学科体系</a:t>
            </a:r>
            <a:r>
              <a:rPr lang="zh-CN" altLang="en-US" kern="1200" dirty="0">
                <a:latin typeface="黑体" panose="02010609060101010101" pitchFamily="49" charset="-122"/>
                <a:ea typeface="黑体" panose="02010609060101010101" pitchFamily="49" charset="-122"/>
                <a:cs typeface="+mj-cs"/>
              </a:rPr>
              <a:t/>
            </a:r>
            <a:br>
              <a:rPr lang="zh-CN" altLang="en-US" kern="1200" dirty="0">
                <a:latin typeface="黑体" panose="02010609060101010101" pitchFamily="49" charset="-122"/>
                <a:ea typeface="黑体" panose="02010609060101010101" pitchFamily="49" charset="-122"/>
                <a:cs typeface="+mj-cs"/>
              </a:rPr>
            </a:br>
            <a:endParaRPr lang="zh-CN" altLang="en-US" kern="1200" dirty="0">
              <a:latin typeface="黑体" panose="02010609060101010101" pitchFamily="49" charset="-122"/>
              <a:ea typeface="黑体" panose="02010609060101010101" pitchFamily="49" charset="-122"/>
              <a:cs typeface="+mj-cs"/>
            </a:endParaRPr>
          </a:p>
        </p:txBody>
      </p:sp>
      <p:sp>
        <p:nvSpPr>
          <p:cNvPr id="4099" name="内容占位符 2"/>
          <p:cNvSpPr>
            <a:spLocks noGrp="1"/>
          </p:cNvSpPr>
          <p:nvPr>
            <p:ph idx="1"/>
          </p:nvPr>
        </p:nvSpPr>
        <p:spPr>
          <a:xfrm>
            <a:off x="395288" y="1379538"/>
            <a:ext cx="8569325" cy="5145087"/>
          </a:xfrm>
          <a:noFill/>
          <a:ln>
            <a:noFill/>
          </a:ln>
        </p:spPr>
        <p:txBody>
          <a:bodyPr/>
          <a:lstStyle/>
          <a:p>
            <a:pPr marL="0" indent="0">
              <a:buNone/>
            </a:pPr>
            <a:endParaRPr lang="en-US" altLang="zh-CN" kern="1200" dirty="0" smtClean="0">
              <a:latin typeface="+mn-lt"/>
              <a:ea typeface="+mn-ea"/>
              <a:cs typeface="+mn-cs"/>
            </a:endParaRPr>
          </a:p>
          <a:p>
            <a:pPr marL="0" indent="0">
              <a:buNone/>
            </a:pPr>
            <a:r>
              <a:rPr lang="zh-CN" altLang="en-US" kern="1200" dirty="0" smtClean="0">
                <a:latin typeface="+mn-lt"/>
                <a:ea typeface="+mn-ea"/>
                <a:cs typeface="+mn-cs"/>
              </a:rPr>
              <a:t>一、</a:t>
            </a:r>
            <a:r>
              <a:rPr lang="zh-CN" altLang="en-US" dirty="0" smtClean="0"/>
              <a:t>广告学的研究对象</a:t>
            </a:r>
            <a:endParaRPr lang="en-US" altLang="zh-CN" kern="1200" dirty="0" smtClean="0">
              <a:latin typeface="+mn-lt"/>
              <a:ea typeface="+mn-ea"/>
              <a:cs typeface="+mn-cs"/>
            </a:endParaRPr>
          </a:p>
          <a:p>
            <a:pPr marL="0" indent="0">
              <a:buNone/>
            </a:pPr>
            <a:r>
              <a:rPr lang="zh-CN" altLang="en-US" sz="2400" dirty="0" smtClean="0"/>
              <a:t>        广告学</a:t>
            </a:r>
            <a:r>
              <a:rPr lang="zh-CN" altLang="en-US" sz="2400" dirty="0"/>
              <a:t>的研究对象可分为广告策略与效果、广告运营与管理、 广告历史与文化三大领域</a:t>
            </a:r>
            <a:r>
              <a:rPr lang="zh-CN" altLang="en-US" sz="2400" dirty="0" smtClean="0"/>
              <a:t>。</a:t>
            </a:r>
            <a:endParaRPr lang="en-US" altLang="zh-CN" sz="2400" dirty="0" smtClean="0"/>
          </a:p>
          <a:p>
            <a:pPr marL="0" indent="0">
              <a:buNone/>
            </a:pPr>
            <a:endParaRPr lang="en-US" altLang="zh-CN" sz="2400" dirty="0" smtClean="0"/>
          </a:p>
          <a:p>
            <a:pPr marL="0" indent="0">
              <a:buNone/>
            </a:pPr>
            <a:r>
              <a:rPr lang="zh-CN" altLang="en-US" sz="2400" dirty="0"/>
              <a:t> </a:t>
            </a:r>
            <a:r>
              <a:rPr lang="zh-CN" altLang="en-US" sz="2400" dirty="0" smtClean="0"/>
              <a:t>       </a:t>
            </a:r>
            <a:r>
              <a:rPr lang="zh-CN" altLang="en-US" sz="2400" b="1" dirty="0" smtClean="0"/>
              <a:t>广告</a:t>
            </a:r>
            <a:r>
              <a:rPr lang="zh-CN" altLang="en-US" sz="2400" b="1" dirty="0"/>
              <a:t>策略与效果</a:t>
            </a:r>
            <a:r>
              <a:rPr lang="zh-CN" altLang="en-US" sz="2400" dirty="0"/>
              <a:t>主要包括广告策划、品牌定位、广告 态度、认知与行为等</a:t>
            </a:r>
            <a:r>
              <a:rPr lang="zh-CN" altLang="en-US" sz="2400" dirty="0" smtClean="0"/>
              <a:t>。</a:t>
            </a:r>
            <a:endParaRPr lang="en-US" altLang="zh-CN" sz="2400" dirty="0" smtClean="0"/>
          </a:p>
          <a:p>
            <a:pPr marL="0" indent="0">
              <a:buNone/>
            </a:pPr>
            <a:r>
              <a:rPr lang="en-US" altLang="zh-CN" sz="2400" b="1" dirty="0"/>
              <a:t> </a:t>
            </a:r>
            <a:r>
              <a:rPr lang="en-US" altLang="zh-CN" sz="2400" b="1" dirty="0" smtClean="0"/>
              <a:t>       </a:t>
            </a:r>
            <a:r>
              <a:rPr lang="zh-CN" altLang="en-US" sz="2400" b="1" dirty="0" smtClean="0"/>
              <a:t>广告</a:t>
            </a:r>
            <a:r>
              <a:rPr lang="zh-CN" altLang="en-US" sz="2400" b="1" dirty="0"/>
              <a:t>运营与管理</a:t>
            </a:r>
            <a:r>
              <a:rPr lang="zh-CN" altLang="en-US" sz="2400" dirty="0"/>
              <a:t>主要包括广告业务、广告产业、广告法规 与监管等</a:t>
            </a:r>
            <a:r>
              <a:rPr lang="zh-CN" altLang="en-US" sz="2400" dirty="0" smtClean="0"/>
              <a:t>。</a:t>
            </a:r>
            <a:endParaRPr lang="en-US" altLang="zh-CN" sz="2400" dirty="0" smtClean="0"/>
          </a:p>
          <a:p>
            <a:pPr marL="0" indent="0">
              <a:buNone/>
            </a:pPr>
            <a:r>
              <a:rPr lang="en-US" altLang="zh-CN" sz="2400" b="1" dirty="0"/>
              <a:t> </a:t>
            </a:r>
            <a:r>
              <a:rPr lang="en-US" altLang="zh-CN" sz="2400" b="1" dirty="0" smtClean="0"/>
              <a:t>       </a:t>
            </a:r>
            <a:r>
              <a:rPr lang="zh-CN" altLang="en-US" sz="2400" b="1" dirty="0" smtClean="0"/>
              <a:t>广告</a:t>
            </a:r>
            <a:r>
              <a:rPr lang="zh-CN" altLang="en-US" sz="2400" b="1" dirty="0"/>
              <a:t>历史与文化</a:t>
            </a:r>
            <a:r>
              <a:rPr lang="zh-CN" altLang="en-US" sz="2400" dirty="0"/>
              <a:t>主要包括中外广告史、广告文化与广告观念等 </a:t>
            </a:r>
            <a:endParaRPr lang="en-US" altLang="zh-CN" sz="2400" dirty="0" smtClean="0"/>
          </a:p>
          <a:p>
            <a:pPr marL="0" indent="0">
              <a:buNone/>
            </a:pPr>
            <a:r>
              <a:rPr lang="zh-CN" altLang="en-US" sz="2400" dirty="0"/>
              <a:t>详</a:t>
            </a:r>
            <a:r>
              <a:rPr lang="zh-CN" altLang="en-US" sz="2400" dirty="0" smtClean="0"/>
              <a:t>见教材</a:t>
            </a:r>
            <a:r>
              <a:rPr lang="en-US" altLang="zh-CN" sz="2400" smtClean="0"/>
              <a:t>P1</a:t>
            </a:r>
            <a:endParaRPr lang="zh-CN" altLang="en-US" sz="2400" dirty="0"/>
          </a:p>
          <a:p>
            <a:pPr marL="0" indent="0">
              <a:buNone/>
            </a:pPr>
            <a:endParaRPr lang="zh-CN" altLang="en-US" sz="2400" kern="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a:xfrm>
            <a:off x="179388" y="144463"/>
            <a:ext cx="7993062" cy="836612"/>
          </a:xfrm>
          <a:noFill/>
          <a:ln>
            <a:noFill/>
          </a:ln>
        </p:spPr>
        <p:txBody>
          <a:bodyPr/>
          <a:lstStyle/>
          <a:p>
            <a:r>
              <a:rPr lang="zh-CN" altLang="en-US">
                <a:solidFill>
                  <a:schemeClr val="tx1"/>
                </a:solidFill>
              </a:rPr>
              <a:t>二、广告学的研究方法</a:t>
            </a:r>
            <a:r>
              <a:rPr lang="en-US" altLang="zh-CN">
                <a:solidFill>
                  <a:schemeClr val="tx1"/>
                </a:solidFill>
              </a:rPr>
              <a:t/>
            </a:r>
            <a:br>
              <a:rPr lang="en-US" altLang="zh-CN">
                <a:solidFill>
                  <a:schemeClr val="tx1"/>
                </a:solidFill>
              </a:rPr>
            </a:br>
            <a:endParaRPr lang="zh-CN" altLang="en-US" kern="1200" dirty="0">
              <a:solidFill>
                <a:schemeClr val="tx1"/>
              </a:solidFill>
            </a:endParaRPr>
          </a:p>
        </p:txBody>
      </p:sp>
      <p:sp>
        <p:nvSpPr>
          <p:cNvPr id="4099" name="内容占位符 2"/>
          <p:cNvSpPr>
            <a:spLocks noGrp="1"/>
          </p:cNvSpPr>
          <p:nvPr>
            <p:ph idx="1"/>
          </p:nvPr>
        </p:nvSpPr>
        <p:spPr>
          <a:xfrm>
            <a:off x="395288" y="1379538"/>
            <a:ext cx="8569325" cy="5145087"/>
          </a:xfrm>
          <a:noFill/>
          <a:ln>
            <a:noFill/>
          </a:ln>
        </p:spPr>
        <p:txBody>
          <a:bodyPr/>
          <a:lstStyle/>
          <a:p>
            <a:pPr marL="0" indent="0">
              <a:buNone/>
            </a:pPr>
            <a:r>
              <a:rPr lang="zh-CN" altLang="en-US" sz="2400" dirty="0" smtClean="0"/>
              <a:t>广告学研究要坚持马克思主义方法论的基本原则，遵循人文社会科学研究的基本规范。广告学研究常用的方法简要概括为以下两类：</a:t>
            </a:r>
          </a:p>
          <a:p>
            <a:pPr marL="0" indent="0">
              <a:buNone/>
            </a:pPr>
            <a:r>
              <a:rPr lang="en-US" altLang="zh-CN" sz="2400" dirty="0" smtClean="0"/>
              <a:t>       </a:t>
            </a:r>
            <a:r>
              <a:rPr lang="zh-CN" altLang="en-US" sz="2400" dirty="0" smtClean="0"/>
              <a:t>（一）实证研究方法</a:t>
            </a:r>
            <a:endParaRPr lang="en-US" altLang="zh-CN" sz="2400" dirty="0" smtClean="0"/>
          </a:p>
          <a:p>
            <a:pPr marL="0" indent="0">
              <a:lnSpc>
                <a:spcPct val="150000"/>
              </a:lnSpc>
              <a:buNone/>
            </a:pPr>
            <a:r>
              <a:rPr lang="zh-CN" altLang="en-US" sz="2400" dirty="0" smtClean="0"/>
              <a:t>         解决</a:t>
            </a:r>
            <a:r>
              <a:rPr lang="zh-CN" altLang="en-US" sz="2400" b="1" dirty="0" smtClean="0"/>
              <a:t>“是什么”</a:t>
            </a:r>
            <a:r>
              <a:rPr lang="zh-CN" altLang="en-US" sz="2400" dirty="0" smtClean="0"/>
              <a:t>的问题。实证研究方法分为</a:t>
            </a:r>
            <a:r>
              <a:rPr lang="zh-CN" altLang="en-US" sz="2400" b="1" dirty="0" smtClean="0"/>
              <a:t>定量研究</a:t>
            </a:r>
            <a:r>
              <a:rPr lang="zh-CN" altLang="en-US" sz="2400" dirty="0" smtClean="0"/>
              <a:t>与</a:t>
            </a:r>
            <a:r>
              <a:rPr lang="zh-CN" altLang="en-US" sz="2400" b="1" dirty="0" smtClean="0"/>
              <a:t>质性研究</a:t>
            </a:r>
            <a:r>
              <a:rPr lang="zh-CN" altLang="en-US" sz="2400" dirty="0" smtClean="0"/>
              <a:t>两种</a:t>
            </a:r>
            <a:endParaRPr lang="en-US" altLang="zh-CN" sz="2400" dirty="0" smtClean="0"/>
          </a:p>
          <a:p>
            <a:pPr marL="0" indent="0">
              <a:lnSpc>
                <a:spcPct val="150000"/>
              </a:lnSpc>
              <a:buNone/>
            </a:pPr>
            <a:r>
              <a:rPr lang="en-US" altLang="zh-CN" sz="2400" dirty="0" smtClean="0"/>
              <a:t>       </a:t>
            </a:r>
            <a:r>
              <a:rPr lang="zh-CN" altLang="en-US" sz="2400" dirty="0" smtClean="0"/>
              <a:t>（二）规范研究方法</a:t>
            </a:r>
            <a:endParaRPr lang="en-US" altLang="zh-CN" sz="2400" dirty="0" smtClean="0"/>
          </a:p>
          <a:p>
            <a:pPr marL="0" indent="0">
              <a:lnSpc>
                <a:spcPct val="150000"/>
              </a:lnSpc>
              <a:buNone/>
            </a:pPr>
            <a:r>
              <a:rPr lang="zh-CN" altLang="en-US" sz="2400" dirty="0" smtClean="0"/>
              <a:t>         主要解决</a:t>
            </a:r>
            <a:r>
              <a:rPr lang="zh-CN" altLang="en-US" sz="2400" b="1" dirty="0" smtClean="0"/>
              <a:t>“应该如何”</a:t>
            </a:r>
            <a:r>
              <a:rPr lang="zh-CN" altLang="en-US" sz="2400" dirty="0" smtClean="0"/>
              <a:t>的问题。</a:t>
            </a:r>
            <a:endParaRPr lang="en-US" altLang="zh-CN" sz="2400" dirty="0" smtClean="0"/>
          </a:p>
          <a:p>
            <a:pPr marL="0" indent="0">
              <a:lnSpc>
                <a:spcPct val="150000"/>
              </a:lnSpc>
              <a:buNone/>
            </a:pPr>
            <a:r>
              <a:rPr lang="zh-CN" altLang="en-US" sz="2400" dirty="0" smtClean="0"/>
              <a:t>            详</a:t>
            </a:r>
            <a:r>
              <a:rPr lang="zh-CN" altLang="en-US" sz="2400" dirty="0"/>
              <a:t>见教材第</a:t>
            </a:r>
            <a:r>
              <a:rPr lang="en-US" altLang="zh-CN" sz="2400" dirty="0"/>
              <a:t>2</a:t>
            </a:r>
            <a:r>
              <a:rPr lang="zh-CN" altLang="en-US" sz="2400" dirty="0"/>
              <a:t>页</a:t>
            </a:r>
            <a:endParaRPr lang="en-US" altLang="zh-CN" sz="2400" dirty="0"/>
          </a:p>
          <a:p>
            <a:pPr marL="0" indent="0">
              <a:lnSpc>
                <a:spcPct val="150000"/>
              </a:lnSpc>
              <a:buNone/>
            </a:pPr>
            <a:endParaRPr lang="en-US" altLang="zh-CN" sz="2400" dirty="0"/>
          </a:p>
          <a:p>
            <a:pPr marL="0" indent="0">
              <a:lnSpc>
                <a:spcPct val="150000"/>
              </a:lnSpc>
              <a:buNone/>
            </a:pPr>
            <a:endParaRPr lang="en-US" altLang="zh-CN" sz="2400" dirty="0"/>
          </a:p>
          <a:p>
            <a:pPr marL="0" indent="0">
              <a:lnSpc>
                <a:spcPct val="150000"/>
              </a:lnSpc>
              <a:buNone/>
            </a:pPr>
            <a:r>
              <a:rPr lang="en-US" altLang="zh-CN" sz="2400" dirty="0"/>
              <a:t>       </a:t>
            </a:r>
            <a:endParaRPr lang="en-US" altLang="zh-CN" sz="2400" dirty="0" smtClean="0"/>
          </a:p>
        </p:txBody>
      </p:sp>
    </p:spTree>
    <p:extLst>
      <p:ext uri="{BB962C8B-B14F-4D97-AF65-F5344CB8AC3E}">
        <p14:creationId xmlns:p14="http://schemas.microsoft.com/office/powerpoint/2010/main" val="1853924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solidFill>
                  <a:schemeClr val="tx1"/>
                </a:solidFill>
              </a:rPr>
              <a:t>三、广告学的学科体系构成及与相关学科的关系</a:t>
            </a:r>
            <a:r>
              <a:rPr lang="en-US" altLang="zh-CN" dirty="0"/>
              <a:t/>
            </a:r>
            <a:br>
              <a:rPr lang="en-US" altLang="zh-CN" dirty="0"/>
            </a:br>
            <a:endParaRPr lang="zh-CN" altLang="en-US" dirty="0"/>
          </a:p>
        </p:txBody>
      </p:sp>
      <p:sp>
        <p:nvSpPr>
          <p:cNvPr id="3" name="内容占位符 2"/>
          <p:cNvSpPr>
            <a:spLocks noGrp="1"/>
          </p:cNvSpPr>
          <p:nvPr>
            <p:ph idx="1"/>
          </p:nvPr>
        </p:nvSpPr>
        <p:spPr/>
        <p:txBody>
          <a:bodyPr/>
          <a:lstStyle/>
          <a:p>
            <a:r>
              <a:rPr lang="zh-CN" altLang="en-US" dirty="0" smtClean="0"/>
              <a:t>（一）广告学的学科体系构成</a:t>
            </a:r>
            <a:endParaRPr lang="en-US" altLang="zh-CN" dirty="0" smtClean="0"/>
          </a:p>
          <a:p>
            <a:r>
              <a:rPr lang="zh-CN" altLang="en-US" dirty="0" smtClean="0"/>
              <a:t>广告学学科体系分为三个领域：</a:t>
            </a:r>
            <a:endParaRPr lang="en-US" altLang="zh-CN" dirty="0" smtClean="0"/>
          </a:p>
          <a:p>
            <a:r>
              <a:rPr lang="en-US" altLang="zh-CN" dirty="0" smtClean="0"/>
              <a:t>1.</a:t>
            </a:r>
            <a:r>
              <a:rPr lang="zh-CN" altLang="en-US" dirty="0" smtClean="0"/>
              <a:t>广告理论研究</a:t>
            </a:r>
            <a:endParaRPr lang="en-US" altLang="zh-CN" dirty="0" smtClean="0"/>
          </a:p>
          <a:p>
            <a:r>
              <a:rPr lang="en-US" altLang="zh-CN" dirty="0" smtClean="0"/>
              <a:t>2.</a:t>
            </a:r>
            <a:r>
              <a:rPr lang="zh-CN" altLang="en-US" dirty="0" smtClean="0"/>
              <a:t>广告实务研究（本科阶段的重点学习研究内容）</a:t>
            </a:r>
            <a:endParaRPr lang="en-US" altLang="zh-CN" dirty="0" smtClean="0"/>
          </a:p>
          <a:p>
            <a:r>
              <a:rPr lang="en-US" altLang="zh-CN" dirty="0" smtClean="0"/>
              <a:t>3.</a:t>
            </a:r>
            <a:r>
              <a:rPr lang="zh-CN" altLang="en-US" dirty="0" smtClean="0"/>
              <a:t>广告历史与文化研究</a:t>
            </a:r>
            <a:endParaRPr lang="en-US" altLang="zh-CN" dirty="0" smtClean="0"/>
          </a:p>
          <a:p>
            <a:r>
              <a:rPr lang="zh-CN" altLang="en-US" dirty="0"/>
              <a:t>详</a:t>
            </a:r>
            <a:r>
              <a:rPr lang="zh-CN" altLang="en-US" dirty="0" smtClean="0"/>
              <a:t>见教材</a:t>
            </a:r>
            <a:r>
              <a:rPr lang="en-US" altLang="zh-CN" dirty="0" smtClean="0"/>
              <a:t>P2-3</a:t>
            </a:r>
            <a:endParaRPr lang="zh-CN" altLang="en-US" dirty="0"/>
          </a:p>
        </p:txBody>
      </p:sp>
    </p:spTree>
    <p:extLst>
      <p:ext uri="{BB962C8B-B14F-4D97-AF65-F5344CB8AC3E}">
        <p14:creationId xmlns:p14="http://schemas.microsoft.com/office/powerpoint/2010/main" val="1694346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solidFill>
                  <a:schemeClr val="tx1"/>
                </a:solidFill>
              </a:rPr>
              <a:t>（二）广告学的性质与相关学科的关系</a:t>
            </a:r>
            <a:endParaRPr lang="zh-CN" altLang="en-US" dirty="0">
              <a:solidFill>
                <a:schemeClr val="tx1"/>
              </a:solidFill>
            </a:endParaRPr>
          </a:p>
        </p:txBody>
      </p:sp>
      <p:sp>
        <p:nvSpPr>
          <p:cNvPr id="3" name="内容占位符 2"/>
          <p:cNvSpPr>
            <a:spLocks noGrp="1"/>
          </p:cNvSpPr>
          <p:nvPr>
            <p:ph idx="1"/>
          </p:nvPr>
        </p:nvSpPr>
        <p:spPr/>
        <p:txBody>
          <a:bodyPr/>
          <a:lstStyle/>
          <a:p>
            <a:pPr eaLnBrk="1" hangingPunct="1"/>
            <a:r>
              <a:rPr lang="en-US" altLang="zh-CN" sz="2400" b="1" dirty="0" smtClean="0">
                <a:solidFill>
                  <a:srgbClr val="FF0000"/>
                </a:solidFill>
                <a:latin typeface="华文新魏" pitchFamily="2" charset="-122"/>
                <a:ea typeface="华文新魏" pitchFamily="2" charset="-122"/>
              </a:rPr>
              <a:t>1.</a:t>
            </a:r>
            <a:r>
              <a:rPr lang="zh-CN" altLang="en-US" sz="2400" b="1" dirty="0" smtClean="0">
                <a:solidFill>
                  <a:srgbClr val="FF0000"/>
                </a:solidFill>
                <a:latin typeface="华文新魏" pitchFamily="2" charset="-122"/>
                <a:ea typeface="华文新魏" pitchFamily="2" charset="-122"/>
              </a:rPr>
              <a:t>广告学的性质</a:t>
            </a:r>
            <a:endParaRPr lang="en-US" altLang="zh-CN" sz="2400" b="1" dirty="0" smtClean="0">
              <a:solidFill>
                <a:srgbClr val="FF0000"/>
              </a:solidFill>
              <a:latin typeface="华文新魏" pitchFamily="2" charset="-122"/>
              <a:ea typeface="华文新魏" pitchFamily="2" charset="-122"/>
            </a:endParaRPr>
          </a:p>
          <a:p>
            <a:pPr eaLnBrk="1" hangingPunct="1"/>
            <a:r>
              <a:rPr lang="zh-CN" altLang="en-US" sz="2400" b="1" dirty="0" smtClean="0">
                <a:solidFill>
                  <a:srgbClr val="FF0000"/>
                </a:solidFill>
                <a:latin typeface="华文新魏" pitchFamily="2" charset="-122"/>
                <a:ea typeface="华文新魏" pitchFamily="2" charset="-122"/>
              </a:rPr>
              <a:t>广告学是一门独立的综合性边缘学科，同时又是一门艺术</a:t>
            </a:r>
            <a:r>
              <a:rPr lang="zh-CN" altLang="en-US" sz="2400" b="1" dirty="0" smtClean="0">
                <a:latin typeface="华文新魏" pitchFamily="2" charset="-122"/>
                <a:ea typeface="华文新魏" pitchFamily="2" charset="-122"/>
              </a:rPr>
              <a:t>。</a:t>
            </a:r>
            <a:endParaRPr lang="en-US" altLang="zh-CN" sz="2400" b="1" dirty="0" smtClean="0">
              <a:latin typeface="华文新魏" pitchFamily="2" charset="-122"/>
              <a:ea typeface="华文新魏" pitchFamily="2" charset="-122"/>
            </a:endParaRPr>
          </a:p>
          <a:p>
            <a:pPr eaLnBrk="1" hangingPunct="1"/>
            <a:r>
              <a:rPr lang="zh-CN" altLang="en-US" sz="2400" b="1" dirty="0" smtClean="0">
                <a:latin typeface="华文新魏" pitchFamily="2" charset="-122"/>
                <a:ea typeface="华文新魏" pitchFamily="2" charset="-122"/>
              </a:rPr>
              <a:t>（</a:t>
            </a:r>
            <a:r>
              <a:rPr lang="en-US" altLang="zh-CN" sz="2400" b="1" dirty="0" smtClean="0">
                <a:latin typeface="华文新魏" pitchFamily="2" charset="-122"/>
                <a:ea typeface="华文新魏" pitchFamily="2" charset="-122"/>
              </a:rPr>
              <a:t>1</a:t>
            </a:r>
            <a:r>
              <a:rPr lang="zh-CN" altLang="en-US" sz="2400" b="1" dirty="0">
                <a:latin typeface="华文新魏" pitchFamily="2" charset="-122"/>
                <a:ea typeface="华文新魏" pitchFamily="2" charset="-122"/>
              </a:rPr>
              <a:t>）</a:t>
            </a:r>
            <a:r>
              <a:rPr lang="zh-CN" altLang="en-US" sz="2400" b="1" dirty="0" smtClean="0">
                <a:latin typeface="华文新魏" pitchFamily="2" charset="-122"/>
                <a:ea typeface="华文新魏" pitchFamily="2" charset="-122"/>
              </a:rPr>
              <a:t>广告学是一门综合性边缘学科。说广告学是一门结合性的边缘科学，是因为广告学涉及社会学、经济学、心理学、新闻学、传播学、营销学、语言学、统计学、文学、美学、声学、光学、电学等众多学科。</a:t>
            </a:r>
            <a:endParaRPr lang="en-US" altLang="zh-CN" sz="2400" b="1" dirty="0" smtClean="0">
              <a:latin typeface="华文新魏" pitchFamily="2" charset="-122"/>
              <a:ea typeface="华文新魏" pitchFamily="2" charset="-122"/>
            </a:endParaRPr>
          </a:p>
          <a:p>
            <a:endParaRPr lang="zh-CN" altLang="en-US" dirty="0"/>
          </a:p>
        </p:txBody>
      </p:sp>
      <p:pic>
        <p:nvPicPr>
          <p:cNvPr id="5" name="图片 4"/>
          <p:cNvPicPr>
            <a:picLocks noChangeAspect="1"/>
          </p:cNvPicPr>
          <p:nvPr/>
        </p:nvPicPr>
        <p:blipFill>
          <a:blip r:embed="rId2"/>
          <a:stretch>
            <a:fillRect/>
          </a:stretch>
        </p:blipFill>
        <p:spPr>
          <a:xfrm>
            <a:off x="1127956" y="3363316"/>
            <a:ext cx="6096000" cy="3705225"/>
          </a:xfrm>
          <a:prstGeom prst="rect">
            <a:avLst/>
          </a:prstGeom>
        </p:spPr>
      </p:pic>
    </p:spTree>
    <p:extLst>
      <p:ext uri="{BB962C8B-B14F-4D97-AF65-F5344CB8AC3E}">
        <p14:creationId xmlns:p14="http://schemas.microsoft.com/office/powerpoint/2010/main" val="113258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lvl="0" eaLnBrk="1" hangingPunct="1"/>
            <a:r>
              <a:rPr lang="zh-CN" altLang="en-US" dirty="0" smtClean="0">
                <a:solidFill>
                  <a:srgbClr val="000000"/>
                </a:solidFill>
                <a:latin typeface="隶书" pitchFamily="49" charset="-122"/>
                <a:ea typeface="隶书" pitchFamily="49" charset="-122"/>
              </a:rPr>
              <a:t>（</a:t>
            </a:r>
            <a:r>
              <a:rPr lang="en-US" altLang="zh-CN" dirty="0" smtClean="0">
                <a:solidFill>
                  <a:srgbClr val="000000"/>
                </a:solidFill>
                <a:latin typeface="隶书" pitchFamily="49" charset="-122"/>
                <a:ea typeface="隶书" pitchFamily="49" charset="-122"/>
              </a:rPr>
              <a:t>2</a:t>
            </a:r>
            <a:r>
              <a:rPr lang="zh-CN" altLang="en-US" dirty="0">
                <a:solidFill>
                  <a:srgbClr val="000000"/>
                </a:solidFill>
                <a:latin typeface="隶书" pitchFamily="49" charset="-122"/>
                <a:ea typeface="隶书" pitchFamily="49" charset="-122"/>
              </a:rPr>
              <a:t>）</a:t>
            </a:r>
            <a:r>
              <a:rPr lang="zh-CN" altLang="en-US" dirty="0" smtClean="0">
                <a:solidFill>
                  <a:srgbClr val="FF0000"/>
                </a:solidFill>
                <a:latin typeface="隶书" pitchFamily="49" charset="-122"/>
                <a:ea typeface="隶书" pitchFamily="49" charset="-122"/>
              </a:rPr>
              <a:t>广告学</a:t>
            </a:r>
            <a:r>
              <a:rPr lang="zh-CN" altLang="en-US" dirty="0">
                <a:solidFill>
                  <a:srgbClr val="FF0000"/>
                </a:solidFill>
                <a:latin typeface="隶书" pitchFamily="49" charset="-122"/>
                <a:ea typeface="隶书" pitchFamily="49" charset="-122"/>
              </a:rPr>
              <a:t>是一门独立的学科</a:t>
            </a:r>
            <a:r>
              <a:rPr lang="zh-CN" altLang="en-US" dirty="0">
                <a:solidFill>
                  <a:srgbClr val="000000"/>
                </a:solidFill>
                <a:latin typeface="隶书" pitchFamily="49" charset="-122"/>
                <a:ea typeface="隶书" pitchFamily="49" charset="-122"/>
              </a:rPr>
              <a:t>，本身有着自己完整的理论体系和许多分支学科。</a:t>
            </a:r>
            <a:r>
              <a:rPr lang="zh-CN" altLang="en-US" dirty="0">
                <a:solidFill>
                  <a:srgbClr val="000000"/>
                </a:solidFill>
              </a:rPr>
              <a:t>广告学学科体系分为三个领域</a:t>
            </a:r>
            <a:r>
              <a:rPr lang="en-US" altLang="zh-CN" dirty="0" smtClean="0">
                <a:solidFill>
                  <a:srgbClr val="000000"/>
                </a:solidFill>
              </a:rPr>
              <a:t>:</a:t>
            </a:r>
          </a:p>
          <a:p>
            <a:pPr marL="0" lvl="0" indent="0" eaLnBrk="1" hangingPunct="1">
              <a:buNone/>
            </a:pPr>
            <a:r>
              <a:rPr lang="zh-CN" altLang="en-US" dirty="0" smtClean="0">
                <a:solidFill>
                  <a:srgbClr val="000000"/>
                </a:solidFill>
              </a:rPr>
              <a:t>      ①广告</a:t>
            </a:r>
            <a:r>
              <a:rPr lang="zh-CN" altLang="en-US" dirty="0">
                <a:solidFill>
                  <a:srgbClr val="000000"/>
                </a:solidFill>
              </a:rPr>
              <a:t>理论</a:t>
            </a:r>
            <a:r>
              <a:rPr lang="zh-CN" altLang="en-US" dirty="0" smtClean="0">
                <a:solidFill>
                  <a:srgbClr val="000000"/>
                </a:solidFill>
              </a:rPr>
              <a:t>研究</a:t>
            </a:r>
            <a:endParaRPr lang="en-US" altLang="zh-CN" dirty="0" smtClean="0">
              <a:solidFill>
                <a:srgbClr val="000000"/>
              </a:solidFill>
            </a:endParaRPr>
          </a:p>
          <a:p>
            <a:pPr marL="0" lvl="0" indent="0" eaLnBrk="1" hangingPunct="1">
              <a:buNone/>
            </a:pPr>
            <a:r>
              <a:rPr lang="zh-CN" altLang="en-US" dirty="0" smtClean="0">
                <a:solidFill>
                  <a:srgbClr val="000000"/>
                </a:solidFill>
              </a:rPr>
              <a:t>      ②</a:t>
            </a:r>
            <a:r>
              <a:rPr lang="zh-CN" altLang="en-US" dirty="0">
                <a:solidFill>
                  <a:srgbClr val="000000"/>
                </a:solidFill>
              </a:rPr>
              <a:t>广告实务</a:t>
            </a:r>
            <a:r>
              <a:rPr lang="zh-CN" altLang="en-US" dirty="0" smtClean="0">
                <a:solidFill>
                  <a:srgbClr val="000000"/>
                </a:solidFill>
              </a:rPr>
              <a:t>研究</a:t>
            </a:r>
            <a:endParaRPr lang="en-US" altLang="zh-CN" dirty="0" smtClean="0">
              <a:solidFill>
                <a:srgbClr val="000000"/>
              </a:solidFill>
            </a:endParaRPr>
          </a:p>
          <a:p>
            <a:pPr marL="0" lvl="0" indent="0" eaLnBrk="1" hangingPunct="1">
              <a:buNone/>
            </a:pPr>
            <a:r>
              <a:rPr lang="zh-CN" altLang="en-US" dirty="0" smtClean="0">
                <a:solidFill>
                  <a:srgbClr val="000000"/>
                </a:solidFill>
              </a:rPr>
              <a:t>      ③</a:t>
            </a:r>
            <a:r>
              <a:rPr lang="zh-CN" altLang="en-US" dirty="0">
                <a:solidFill>
                  <a:srgbClr val="000000"/>
                </a:solidFill>
              </a:rPr>
              <a:t>广告历史与文化</a:t>
            </a:r>
            <a:r>
              <a:rPr lang="zh-CN" altLang="en-US" dirty="0" smtClean="0">
                <a:solidFill>
                  <a:srgbClr val="000000"/>
                </a:solidFill>
              </a:rPr>
              <a:t>研究</a:t>
            </a:r>
            <a:endParaRPr lang="en-US" altLang="zh-CN" b="1" dirty="0">
              <a:solidFill>
                <a:srgbClr val="000000"/>
              </a:solidFill>
              <a:latin typeface="华文新魏" pitchFamily="2" charset="-122"/>
              <a:ea typeface="华文新魏" pitchFamily="2" charset="-122"/>
            </a:endParaRPr>
          </a:p>
          <a:p>
            <a:endParaRPr lang="zh-CN" altLang="en-US" dirty="0"/>
          </a:p>
        </p:txBody>
      </p:sp>
    </p:spTree>
    <p:extLst>
      <p:ext uri="{BB962C8B-B14F-4D97-AF65-F5344CB8AC3E}">
        <p14:creationId xmlns:p14="http://schemas.microsoft.com/office/powerpoint/2010/main" val="2477256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FF0000"/>
                </a:solidFill>
              </a:rPr>
              <a:t>（</a:t>
            </a:r>
            <a:r>
              <a:rPr lang="en-US" altLang="zh-CN" dirty="0" smtClean="0">
                <a:solidFill>
                  <a:srgbClr val="FF0000"/>
                </a:solidFill>
              </a:rPr>
              <a:t>3</a:t>
            </a:r>
            <a:r>
              <a:rPr lang="zh-CN" altLang="en-US" dirty="0">
                <a:solidFill>
                  <a:srgbClr val="FF0000"/>
                </a:solidFill>
              </a:rPr>
              <a:t>）</a:t>
            </a:r>
            <a:r>
              <a:rPr lang="zh-CN" altLang="en-US" dirty="0" smtClean="0">
                <a:solidFill>
                  <a:srgbClr val="FF0000"/>
                </a:solidFill>
              </a:rPr>
              <a:t>广告学</a:t>
            </a:r>
            <a:r>
              <a:rPr lang="zh-CN" altLang="en-US" dirty="0">
                <a:solidFill>
                  <a:srgbClr val="FF0000"/>
                </a:solidFill>
              </a:rPr>
              <a:t>是一门艺术</a:t>
            </a:r>
            <a:r>
              <a:rPr lang="zh-CN" altLang="en-US" dirty="0">
                <a:solidFill>
                  <a:schemeClr val="tx1"/>
                </a:solidFill>
              </a:rPr>
              <a:t/>
            </a:r>
            <a:br>
              <a:rPr lang="zh-CN" altLang="en-US" dirty="0">
                <a:solidFill>
                  <a:schemeClr val="tx1"/>
                </a:solidFill>
              </a:rPr>
            </a:br>
            <a:endParaRPr lang="zh-CN" altLang="en-US" dirty="0">
              <a:solidFill>
                <a:schemeClr val="tx1"/>
              </a:solidFill>
            </a:endParaRPr>
          </a:p>
        </p:txBody>
      </p:sp>
      <p:sp>
        <p:nvSpPr>
          <p:cNvPr id="3" name="内容占位符 2"/>
          <p:cNvSpPr>
            <a:spLocks noGrp="1"/>
          </p:cNvSpPr>
          <p:nvPr>
            <p:ph idx="1"/>
          </p:nvPr>
        </p:nvSpPr>
        <p:spPr>
          <a:xfrm>
            <a:off x="395536" y="980729"/>
            <a:ext cx="8229600" cy="5544616"/>
          </a:xfrm>
        </p:spPr>
        <p:txBody>
          <a:bodyPr/>
          <a:lstStyle/>
          <a:p>
            <a:r>
              <a:rPr lang="zh-CN" altLang="en-US" b="1" dirty="0"/>
              <a:t>因为广告在创意、文字、图画、色彩、字体、修辞等方面都要运用艺术原理，讲究艺术性。</a:t>
            </a:r>
            <a:r>
              <a:rPr lang="zh-CN" altLang="en-US" b="1" dirty="0">
                <a:solidFill>
                  <a:srgbClr val="FF0000"/>
                </a:solidFill>
              </a:rPr>
              <a:t>艺术是文学、绘画、雕塑、建筑、音乐、舞蹈、戏剧、电影、曲艺等的总称</a:t>
            </a:r>
            <a:r>
              <a:rPr lang="zh-CN" altLang="en-US" b="1" dirty="0"/>
              <a:t>。它是以形象来反映现实生活，反映社会生活的各个领域，是一种富有创造性的方式。艺术也是一种认识，是通过形象把这种认识表现出来。艺术有其社会作用，如认识作用、思想教育作用、审美作用等。广告通过艺术的手法表现产品的形象，准确、生动、简洁、鲜明、富于艺术的感染力表现广告内容，给消费者以美的享受，从而引起消费者对广告的注意和兴趣。</a:t>
            </a:r>
          </a:p>
          <a:p>
            <a:endParaRPr lang="zh-CN" altLang="en-US" dirty="0"/>
          </a:p>
        </p:txBody>
      </p:sp>
    </p:spTree>
    <p:extLst>
      <p:ext uri="{BB962C8B-B14F-4D97-AF65-F5344CB8AC3E}">
        <p14:creationId xmlns:p14="http://schemas.microsoft.com/office/powerpoint/2010/main" val="2770542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solidFill>
                  <a:schemeClr val="tx1"/>
                </a:solidFill>
              </a:rPr>
              <a:t>如何在艺术效果和商业价值之间寻找到一个比较好的平衡点？</a:t>
            </a:r>
            <a:endParaRPr lang="zh-CN" altLang="en-US">
              <a:solidFill>
                <a:schemeClr val="tx1"/>
              </a:solidFill>
            </a:endParaRPr>
          </a:p>
        </p:txBody>
      </p:sp>
      <p:sp>
        <p:nvSpPr>
          <p:cNvPr id="3" name="内容占位符 2"/>
          <p:cNvSpPr>
            <a:spLocks noGrp="1"/>
          </p:cNvSpPr>
          <p:nvPr>
            <p:ph idx="1"/>
          </p:nvPr>
        </p:nvSpPr>
        <p:spPr/>
        <p:txBody>
          <a:bodyPr/>
          <a:lstStyle/>
          <a:p>
            <a:pPr lvl="0">
              <a:buClr>
                <a:srgbClr val="3333CC"/>
              </a:buClr>
              <a:buSzPct val="60000"/>
              <a:buFont typeface="Wingdings" pitchFamily="2" charset="2"/>
              <a:buChar char="n"/>
            </a:pPr>
            <a:r>
              <a:rPr lang="zh-CN" altLang="en-US" sz="2400" b="1" kern="0">
                <a:solidFill>
                  <a:srgbClr val="FF0000"/>
                </a:solidFill>
                <a:latin typeface="Tahoma"/>
              </a:rPr>
              <a:t>艺术效果是要为商业服务的，要立足于广告</a:t>
            </a:r>
            <a:r>
              <a:rPr lang="zh-CN" altLang="en-US" sz="2400" b="1" kern="0">
                <a:solidFill>
                  <a:srgbClr val="000000"/>
                </a:solidFill>
                <a:latin typeface="Tahoma"/>
              </a:rPr>
              <a:t>。如果艺术不为商业服务，那就不是广告，艺术是展现广告的一种方式。展现广告的方式有很多，一些高溢价空间的品牌和产品就非常适合用艺术效果的方式把创意展现出来，因为关键在于品牌所对应的消费群体。比如沙县小吃，非常平民化，不需要通过太艺术的方式来传递它的广告信息，因为其消费群体并不需要通过艺术的方式来获取产品信息。但如果是奢侈品等高价值的产品和品牌，就特别希望跟艺术精英合作，因为全世界溢价空间最大的产品就是艺术品。一张油画可以卖几亿元，产品本身物理层面的价值并不高，便会通过艺术的方式来提升溢价空间，使其高溢价显得合理。</a:t>
            </a:r>
          </a:p>
          <a:p>
            <a:endParaRPr lang="zh-CN" altLang="en-US"/>
          </a:p>
        </p:txBody>
      </p:sp>
    </p:spTree>
    <p:extLst>
      <p:ext uri="{BB962C8B-B14F-4D97-AF65-F5344CB8AC3E}">
        <p14:creationId xmlns:p14="http://schemas.microsoft.com/office/powerpoint/2010/main" val="2667736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smtClean="0">
                <a:solidFill>
                  <a:schemeClr val="tx1"/>
                </a:solidFill>
              </a:rPr>
              <a:t>喧宾夺主的鞋店店招广告</a:t>
            </a:r>
            <a:endParaRPr lang="zh-CN" altLang="en-US">
              <a:solidFill>
                <a:schemeClr val="tx1"/>
              </a:solidFill>
            </a:endParaRP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69698" y="1894503"/>
            <a:ext cx="5480779" cy="4115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7012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 </a:t>
            </a:r>
            <a:r>
              <a:rPr lang="en-US" altLang="zh-CN" dirty="0" smtClean="0">
                <a:solidFill>
                  <a:schemeClr val="tx1"/>
                </a:solidFill>
              </a:rPr>
              <a:t>2.</a:t>
            </a:r>
            <a:r>
              <a:rPr lang="zh-CN" altLang="en-US" dirty="0" smtClean="0">
                <a:solidFill>
                  <a:schemeClr val="tx1"/>
                </a:solidFill>
              </a:rPr>
              <a:t>广告学</a:t>
            </a:r>
            <a:r>
              <a:rPr lang="zh-CN" altLang="en-US" dirty="0">
                <a:solidFill>
                  <a:schemeClr val="tx1"/>
                </a:solidFill>
              </a:rPr>
              <a:t>和相关学科的关系 </a:t>
            </a:r>
            <a:r>
              <a:rPr lang="en-US" altLang="zh-CN" dirty="0"/>
              <a:t/>
            </a:r>
            <a:br>
              <a:rPr lang="en-US" altLang="zh-CN" dirty="0"/>
            </a:br>
            <a:endParaRPr lang="zh-CN" altLang="en-US" dirty="0"/>
          </a:p>
        </p:txBody>
      </p:sp>
      <p:sp>
        <p:nvSpPr>
          <p:cNvPr id="3" name="内容占位符 2"/>
          <p:cNvSpPr>
            <a:spLocks noGrp="1"/>
          </p:cNvSpPr>
          <p:nvPr>
            <p:ph idx="1"/>
          </p:nvPr>
        </p:nvSpPr>
        <p:spPr/>
        <p:txBody>
          <a:bodyPr/>
          <a:lstStyle/>
          <a:p>
            <a:pPr marL="0" indent="0">
              <a:buNone/>
            </a:pPr>
            <a:r>
              <a:rPr lang="zh-CN" altLang="en-US" dirty="0" smtClean="0"/>
              <a:t>一方面， 相关学科的持续发展为广告学不断注入新的理论营养。另一方面，广告学的发展也为相关学科提供了新的研究对象，丰富了研究层 次与内涵，甚至催生出新的学科交叉领域。 </a:t>
            </a:r>
            <a:endParaRPr lang="en-US" altLang="zh-CN" dirty="0" smtClean="0"/>
          </a:p>
          <a:p>
            <a:pPr marL="0" indent="0">
              <a:buNone/>
            </a:pPr>
            <a:endParaRPr lang="en-US" altLang="zh-CN" dirty="0" smtClean="0"/>
          </a:p>
          <a:p>
            <a:pPr marL="0" indent="0">
              <a:buNone/>
            </a:pPr>
            <a:endParaRPr lang="zh-CN" altLang="en-US" dirty="0"/>
          </a:p>
          <a:p>
            <a:pPr marL="0" indent="0">
              <a:buNone/>
            </a:pPr>
            <a:r>
              <a:rPr lang="zh-CN" altLang="en-US" dirty="0"/>
              <a:t> </a:t>
            </a:r>
          </a:p>
        </p:txBody>
      </p:sp>
    </p:spTree>
    <p:extLst>
      <p:ext uri="{BB962C8B-B14F-4D97-AF65-F5344CB8AC3E}">
        <p14:creationId xmlns:p14="http://schemas.microsoft.com/office/powerpoint/2010/main" val="984624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solidFill>
                  <a:srgbClr val="FF0000"/>
                </a:solidFill>
              </a:rPr>
              <a:t>拓展知识点：广告与公关的关系</a:t>
            </a:r>
            <a:endParaRPr lang="zh-CN" altLang="en-US" dirty="0">
              <a:solidFill>
                <a:srgbClr val="FF0000"/>
              </a:solidFill>
            </a:endParaRPr>
          </a:p>
        </p:txBody>
      </p:sp>
      <p:sp>
        <p:nvSpPr>
          <p:cNvPr id="3" name="内容占位符 2"/>
          <p:cNvSpPr>
            <a:spLocks noGrp="1"/>
          </p:cNvSpPr>
          <p:nvPr>
            <p:ph idx="1"/>
          </p:nvPr>
        </p:nvSpPr>
        <p:spPr/>
        <p:txBody>
          <a:bodyPr/>
          <a:lstStyle/>
          <a:p>
            <a:pPr lvl="0" eaLnBrk="1" hangingPunct="1">
              <a:lnSpc>
                <a:spcPct val="115000"/>
              </a:lnSpc>
              <a:buClr>
                <a:srgbClr val="CC3300"/>
              </a:buClr>
              <a:buFont typeface="Wingdings" pitchFamily="2" charset="2"/>
              <a:buChar char="§"/>
            </a:pPr>
            <a:r>
              <a:rPr lang="zh-CN" altLang="en-US" sz="3200" dirty="0">
                <a:solidFill>
                  <a:srgbClr val="000000"/>
                </a:solidFill>
                <a:ea typeface="黑体"/>
              </a:rPr>
              <a:t>公共关系</a:t>
            </a:r>
            <a:r>
              <a:rPr lang="zh-CN" altLang="en-US" dirty="0">
                <a:solidFill>
                  <a:srgbClr val="000000"/>
                </a:solidFill>
                <a:ea typeface="黑体"/>
              </a:rPr>
              <a:t>（</a:t>
            </a:r>
            <a:r>
              <a:rPr lang="en-US" altLang="zh-CN" dirty="0">
                <a:solidFill>
                  <a:srgbClr val="000000"/>
                </a:solidFill>
                <a:ea typeface="黑体"/>
              </a:rPr>
              <a:t>Public Relation</a:t>
            </a:r>
            <a:r>
              <a:rPr lang="zh-CN" altLang="en-US" dirty="0">
                <a:solidFill>
                  <a:srgbClr val="000000"/>
                </a:solidFill>
                <a:ea typeface="黑体"/>
              </a:rPr>
              <a:t>，简称</a:t>
            </a:r>
            <a:r>
              <a:rPr lang="en-US" altLang="zh-CN" dirty="0">
                <a:solidFill>
                  <a:srgbClr val="000000"/>
                </a:solidFill>
                <a:ea typeface="黑体"/>
              </a:rPr>
              <a:t>PR</a:t>
            </a:r>
            <a:r>
              <a:rPr lang="zh-CN" altLang="en-US" dirty="0">
                <a:solidFill>
                  <a:srgbClr val="000000"/>
                </a:solidFill>
                <a:ea typeface="黑体"/>
              </a:rPr>
              <a:t>）</a:t>
            </a:r>
          </a:p>
          <a:p>
            <a:pPr lvl="1" eaLnBrk="1" hangingPunct="1">
              <a:lnSpc>
                <a:spcPct val="115000"/>
              </a:lnSpc>
              <a:buClr>
                <a:srgbClr val="0000FF"/>
              </a:buClr>
              <a:buFont typeface="Wingdings" pitchFamily="2" charset="2"/>
              <a:buChar char=""/>
            </a:pPr>
            <a:r>
              <a:rPr lang="zh-CN" altLang="en-US" dirty="0">
                <a:solidFill>
                  <a:srgbClr val="000000"/>
                </a:solidFill>
                <a:ea typeface="黑体"/>
              </a:rPr>
              <a:t>定义：是指某一组织为改善与社会公众的关系，促进公众对组织的认识，理解及支持，</a:t>
            </a:r>
            <a:r>
              <a:rPr lang="zh-CN" altLang="en-US" dirty="0">
                <a:solidFill>
                  <a:srgbClr val="0000FF"/>
                </a:solidFill>
                <a:ea typeface="黑体"/>
              </a:rPr>
              <a:t>培养</a:t>
            </a:r>
            <a:r>
              <a:rPr lang="zh-CN" altLang="en-US" dirty="0">
                <a:solidFill>
                  <a:srgbClr val="000000"/>
                </a:solidFill>
                <a:ea typeface="黑体"/>
              </a:rPr>
              <a:t>相互</a:t>
            </a:r>
            <a:r>
              <a:rPr lang="zh-CN" altLang="en-US" dirty="0">
                <a:solidFill>
                  <a:srgbClr val="0000FF"/>
                </a:solidFill>
                <a:ea typeface="黑体"/>
              </a:rPr>
              <a:t>好感</a:t>
            </a:r>
            <a:r>
              <a:rPr lang="zh-CN" altLang="en-US" dirty="0">
                <a:solidFill>
                  <a:srgbClr val="000000"/>
                </a:solidFill>
                <a:ea typeface="黑体"/>
              </a:rPr>
              <a:t>和相互适应的管理活动。</a:t>
            </a:r>
          </a:p>
          <a:p>
            <a:pPr lvl="0" eaLnBrk="1" hangingPunct="1">
              <a:lnSpc>
                <a:spcPct val="115000"/>
              </a:lnSpc>
              <a:buClr>
                <a:srgbClr val="CC3300"/>
              </a:buClr>
              <a:buFont typeface="Wingdings" pitchFamily="2" charset="2"/>
              <a:buChar char="§"/>
            </a:pPr>
            <a:r>
              <a:rPr lang="zh-CN" altLang="en-US" sz="3200" dirty="0">
                <a:solidFill>
                  <a:srgbClr val="13110F"/>
                </a:solidFill>
                <a:latin typeface="黑体" pitchFamily="2" charset="-122"/>
                <a:ea typeface="黑体"/>
                <a:sym typeface="宋体" pitchFamily="2" charset="-122"/>
              </a:rPr>
              <a:t>公共关系的目标</a:t>
            </a:r>
          </a:p>
          <a:p>
            <a:pPr lvl="1" eaLnBrk="1" hangingPunct="1">
              <a:lnSpc>
                <a:spcPct val="115000"/>
              </a:lnSpc>
              <a:buClr>
                <a:srgbClr val="0000FF"/>
              </a:buClr>
              <a:buFont typeface="Wingdings" pitchFamily="2" charset="2"/>
              <a:buChar char=""/>
            </a:pPr>
            <a:r>
              <a:rPr lang="zh-CN" altLang="en-US" dirty="0">
                <a:solidFill>
                  <a:srgbClr val="13110F"/>
                </a:solidFill>
                <a:latin typeface="黑体" pitchFamily="2" charset="-122"/>
                <a:ea typeface="黑体"/>
                <a:sym typeface="宋体" pitchFamily="2" charset="-122"/>
              </a:rPr>
              <a:t>就是改善公众舆论，</a:t>
            </a:r>
            <a:r>
              <a:rPr lang="zh-CN" altLang="en-US" dirty="0">
                <a:solidFill>
                  <a:srgbClr val="0000FF"/>
                </a:solidFill>
                <a:latin typeface="黑体" pitchFamily="2" charset="-122"/>
                <a:ea typeface="黑体"/>
                <a:sym typeface="宋体" pitchFamily="2" charset="-122"/>
              </a:rPr>
              <a:t>创造美誉度，</a:t>
            </a:r>
            <a:r>
              <a:rPr lang="zh-CN" altLang="en-US" dirty="0">
                <a:solidFill>
                  <a:srgbClr val="13110F"/>
                </a:solidFill>
                <a:latin typeface="黑体" pitchFamily="2" charset="-122"/>
                <a:ea typeface="黑体"/>
                <a:sym typeface="宋体" pitchFamily="2" charset="-122"/>
              </a:rPr>
              <a:t>并为组织建立和保持令人满意的声望。</a:t>
            </a:r>
          </a:p>
          <a:p>
            <a:endParaRPr lang="zh-CN" altLang="en-US" dirty="0"/>
          </a:p>
        </p:txBody>
      </p:sp>
    </p:spTree>
    <p:extLst>
      <p:ext uri="{BB962C8B-B14F-4D97-AF65-F5344CB8AC3E}">
        <p14:creationId xmlns:p14="http://schemas.microsoft.com/office/powerpoint/2010/main" val="11255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lvl="0" eaLnBrk="1" hangingPunct="1">
              <a:lnSpc>
                <a:spcPct val="120000"/>
              </a:lnSpc>
              <a:buClr>
                <a:srgbClr val="CC3300"/>
              </a:buClr>
              <a:buFont typeface="Wingdings" pitchFamily="2" charset="2"/>
              <a:buChar char="§"/>
            </a:pPr>
            <a:r>
              <a:rPr lang="zh-CN" altLang="en-US" sz="3200">
                <a:solidFill>
                  <a:srgbClr val="000000"/>
                </a:solidFill>
                <a:ea typeface="黑体"/>
              </a:rPr>
              <a:t>公关关系活动的常用方法：</a:t>
            </a:r>
          </a:p>
          <a:p>
            <a:pPr lvl="1" eaLnBrk="1" hangingPunct="1">
              <a:lnSpc>
                <a:spcPct val="120000"/>
              </a:lnSpc>
              <a:buClr>
                <a:srgbClr val="0000FF"/>
              </a:buClr>
              <a:buFont typeface="Wingdings" pitchFamily="2" charset="2"/>
              <a:buChar char=""/>
            </a:pPr>
            <a:r>
              <a:rPr lang="zh-CN" altLang="en-US">
                <a:solidFill>
                  <a:srgbClr val="000000"/>
                </a:solidFill>
                <a:ea typeface="黑体"/>
              </a:rPr>
              <a:t>利用</a:t>
            </a:r>
            <a:r>
              <a:rPr lang="zh-CN" altLang="en-US" b="1">
                <a:solidFill>
                  <a:srgbClr val="000000"/>
                </a:solidFill>
                <a:ea typeface="黑体"/>
              </a:rPr>
              <a:t>新闻报道</a:t>
            </a:r>
            <a:r>
              <a:rPr lang="zh-CN" altLang="en-US">
                <a:solidFill>
                  <a:srgbClr val="000000"/>
                </a:solidFill>
                <a:ea typeface="黑体"/>
              </a:rPr>
              <a:t>来宣布新产品或组织活动；</a:t>
            </a:r>
          </a:p>
          <a:p>
            <a:pPr lvl="1" eaLnBrk="1" hangingPunct="1">
              <a:lnSpc>
                <a:spcPct val="120000"/>
              </a:lnSpc>
              <a:buClr>
                <a:srgbClr val="0000FF"/>
              </a:buClr>
              <a:buFont typeface="Wingdings" pitchFamily="2" charset="2"/>
              <a:buChar char=""/>
            </a:pPr>
            <a:r>
              <a:rPr lang="zh-CN" altLang="en-US">
                <a:solidFill>
                  <a:srgbClr val="0000FF"/>
                </a:solidFill>
                <a:ea typeface="黑体"/>
                <a:hlinkClick r:id="rId2" action="ppaction://hlinksldjump"/>
              </a:rPr>
              <a:t>策划</a:t>
            </a:r>
            <a:r>
              <a:rPr lang="zh-CN" altLang="en-US" b="1">
                <a:solidFill>
                  <a:srgbClr val="000000"/>
                </a:solidFill>
                <a:ea typeface="黑体"/>
                <a:hlinkClick r:id="rId2" action="ppaction://hlinksldjump"/>
              </a:rPr>
              <a:t>特别事件</a:t>
            </a:r>
            <a:r>
              <a:rPr lang="zh-CN" altLang="en-US">
                <a:solidFill>
                  <a:srgbClr val="000000"/>
                </a:solidFill>
                <a:ea typeface="黑体"/>
              </a:rPr>
              <a:t>来树立公众形象；</a:t>
            </a:r>
          </a:p>
          <a:p>
            <a:pPr lvl="1" eaLnBrk="1" hangingPunct="1">
              <a:lnSpc>
                <a:spcPct val="120000"/>
              </a:lnSpc>
              <a:buClr>
                <a:srgbClr val="0000FF"/>
              </a:buClr>
              <a:buFont typeface="Wingdings" pitchFamily="2" charset="2"/>
              <a:buChar char=""/>
            </a:pPr>
            <a:r>
              <a:rPr lang="zh-CN" altLang="en-US">
                <a:solidFill>
                  <a:srgbClr val="000000"/>
                </a:solidFill>
                <a:ea typeface="黑体"/>
              </a:rPr>
              <a:t>用广告来明确表示企业在一个争端事件上的立场。 </a:t>
            </a:r>
          </a:p>
          <a:p>
            <a:endParaRPr lang="zh-CN" altLang="en-US"/>
          </a:p>
        </p:txBody>
      </p:sp>
    </p:spTree>
    <p:extLst>
      <p:ext uri="{BB962C8B-B14F-4D97-AF65-F5344CB8AC3E}">
        <p14:creationId xmlns:p14="http://schemas.microsoft.com/office/powerpoint/2010/main" val="2167745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FF0000"/>
                </a:solidFill>
              </a:rPr>
              <a:t>(</a:t>
            </a:r>
            <a:r>
              <a:rPr lang="zh-CN" altLang="en-US" dirty="0">
                <a:solidFill>
                  <a:srgbClr val="FF0000"/>
                </a:solidFill>
              </a:rPr>
              <a:t>一</a:t>
            </a:r>
            <a:r>
              <a:rPr lang="en-US" altLang="zh-CN" dirty="0">
                <a:solidFill>
                  <a:srgbClr val="FF0000"/>
                </a:solidFill>
              </a:rPr>
              <a:t>)</a:t>
            </a:r>
            <a:r>
              <a:rPr lang="zh-CN" altLang="en-US" dirty="0">
                <a:solidFill>
                  <a:srgbClr val="FF0000"/>
                </a:solidFill>
              </a:rPr>
              <a:t>广告与公共关系之间的密切性</a:t>
            </a:r>
            <a:br>
              <a:rPr lang="zh-CN" altLang="en-US" dirty="0">
                <a:solidFill>
                  <a:srgbClr val="FF0000"/>
                </a:solidFill>
              </a:rPr>
            </a:br>
            <a:endParaRPr lang="zh-CN" altLang="en-US" dirty="0"/>
          </a:p>
        </p:txBody>
      </p:sp>
      <p:sp>
        <p:nvSpPr>
          <p:cNvPr id="3" name="内容占位符 2"/>
          <p:cNvSpPr>
            <a:spLocks noGrp="1"/>
          </p:cNvSpPr>
          <p:nvPr>
            <p:ph idx="1"/>
          </p:nvPr>
        </p:nvSpPr>
        <p:spPr/>
        <p:txBody>
          <a:bodyPr/>
          <a:lstStyle/>
          <a:p>
            <a:pPr eaLnBrk="1" hangingPunct="1">
              <a:lnSpc>
                <a:spcPct val="120000"/>
              </a:lnSpc>
            </a:pPr>
            <a:r>
              <a:rPr lang="zh-CN" altLang="en-US" dirty="0" smtClean="0"/>
              <a:t>体现</a:t>
            </a:r>
            <a:r>
              <a:rPr lang="zh-CN" altLang="en-US" dirty="0"/>
              <a:t>在三方面：</a:t>
            </a:r>
          </a:p>
          <a:p>
            <a:pPr lvl="1" eaLnBrk="1" hangingPunct="1">
              <a:lnSpc>
                <a:spcPct val="120000"/>
              </a:lnSpc>
            </a:pPr>
            <a:r>
              <a:rPr lang="en-US" altLang="zh-CN" dirty="0"/>
              <a:t>1</a:t>
            </a:r>
            <a:r>
              <a:rPr lang="zh-CN" altLang="en-US" dirty="0"/>
              <a:t>、广告活动需要公共关系的</a:t>
            </a:r>
            <a:r>
              <a:rPr lang="zh-CN" altLang="en-US" dirty="0" smtClean="0">
                <a:solidFill>
                  <a:srgbClr val="FF0000"/>
                </a:solidFill>
              </a:rPr>
              <a:t>指导</a:t>
            </a:r>
            <a:endParaRPr lang="zh-CN" altLang="en-US" dirty="0">
              <a:solidFill>
                <a:srgbClr val="FF0000"/>
              </a:solidFill>
            </a:endParaRPr>
          </a:p>
          <a:p>
            <a:pPr lvl="1" eaLnBrk="1" hangingPunct="1">
              <a:lnSpc>
                <a:spcPct val="120000"/>
              </a:lnSpc>
            </a:pPr>
            <a:r>
              <a:rPr lang="en-US" altLang="zh-CN" dirty="0"/>
              <a:t>2</a:t>
            </a:r>
            <a:r>
              <a:rPr lang="zh-CN" altLang="en-US" dirty="0"/>
              <a:t>、广告活动需要公共关系的</a:t>
            </a:r>
            <a:r>
              <a:rPr lang="zh-CN" altLang="en-US" dirty="0" smtClean="0">
                <a:solidFill>
                  <a:srgbClr val="FF0000"/>
                </a:solidFill>
              </a:rPr>
              <a:t>推动</a:t>
            </a:r>
            <a:endParaRPr lang="zh-CN" altLang="en-US" dirty="0">
              <a:solidFill>
                <a:srgbClr val="FF0000"/>
              </a:solidFill>
            </a:endParaRPr>
          </a:p>
          <a:p>
            <a:pPr lvl="1" eaLnBrk="1" hangingPunct="1">
              <a:lnSpc>
                <a:spcPct val="120000"/>
              </a:lnSpc>
            </a:pPr>
            <a:r>
              <a:rPr lang="en-US" altLang="zh-CN" dirty="0"/>
              <a:t>3</a:t>
            </a:r>
            <a:r>
              <a:rPr lang="zh-CN" altLang="en-US" dirty="0"/>
              <a:t>、公共关系需要广告活动</a:t>
            </a:r>
            <a:r>
              <a:rPr lang="zh-CN" altLang="en-US" dirty="0" smtClean="0">
                <a:solidFill>
                  <a:srgbClr val="FF0000"/>
                </a:solidFill>
              </a:rPr>
              <a:t>配合</a:t>
            </a:r>
            <a:endParaRPr lang="zh-CN" altLang="en-US" dirty="0">
              <a:solidFill>
                <a:srgbClr val="FF0000"/>
              </a:solidFill>
            </a:endParaRPr>
          </a:p>
          <a:p>
            <a:endParaRPr lang="zh-CN" altLang="en-US" dirty="0"/>
          </a:p>
        </p:txBody>
      </p:sp>
    </p:spTree>
    <p:extLst>
      <p:ext uri="{BB962C8B-B14F-4D97-AF65-F5344CB8AC3E}">
        <p14:creationId xmlns:p14="http://schemas.microsoft.com/office/powerpoint/2010/main" val="2382789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FF0000"/>
                </a:solidFill>
              </a:rPr>
              <a:t>(</a:t>
            </a:r>
            <a:r>
              <a:rPr lang="zh-CN" altLang="en-US" dirty="0">
                <a:solidFill>
                  <a:srgbClr val="FF0000"/>
                </a:solidFill>
              </a:rPr>
              <a:t>二</a:t>
            </a:r>
            <a:r>
              <a:rPr lang="en-US" altLang="zh-CN" dirty="0">
                <a:solidFill>
                  <a:srgbClr val="FF0000"/>
                </a:solidFill>
              </a:rPr>
              <a:t>)</a:t>
            </a:r>
            <a:r>
              <a:rPr lang="zh-CN" altLang="en-US" dirty="0">
                <a:solidFill>
                  <a:srgbClr val="FF0000"/>
                </a:solidFill>
              </a:rPr>
              <a:t>广告与公共关系之间的差异性</a:t>
            </a:r>
            <a:br>
              <a:rPr lang="zh-CN" altLang="en-US" dirty="0">
                <a:solidFill>
                  <a:srgbClr val="FF0000"/>
                </a:solidFill>
              </a:rPr>
            </a:br>
            <a:endParaRPr lang="zh-CN" altLang="en-US" dirty="0"/>
          </a:p>
        </p:txBody>
      </p:sp>
      <p:sp>
        <p:nvSpPr>
          <p:cNvPr id="3" name="内容占位符 2"/>
          <p:cNvSpPr>
            <a:spLocks noGrp="1"/>
          </p:cNvSpPr>
          <p:nvPr>
            <p:ph idx="1"/>
          </p:nvPr>
        </p:nvSpPr>
        <p:spPr/>
        <p:txBody>
          <a:bodyPr/>
          <a:lstStyle/>
          <a:p>
            <a:pPr eaLnBrk="1" hangingPunct="1">
              <a:lnSpc>
                <a:spcPct val="120000"/>
              </a:lnSpc>
            </a:pPr>
            <a:r>
              <a:rPr lang="en-US" altLang="zh-CN" dirty="0" smtClean="0"/>
              <a:t>1</a:t>
            </a:r>
            <a:r>
              <a:rPr lang="zh-CN" altLang="en-US" dirty="0"/>
              <a:t>、传播目标不同</a:t>
            </a:r>
          </a:p>
          <a:p>
            <a:pPr lvl="1" eaLnBrk="1" hangingPunct="1">
              <a:lnSpc>
                <a:spcPct val="120000"/>
              </a:lnSpc>
            </a:pPr>
            <a:r>
              <a:rPr lang="zh-CN" altLang="en-US" sz="2400" dirty="0"/>
              <a:t>短期利益</a:t>
            </a:r>
            <a:r>
              <a:rPr lang="en-US" altLang="zh-CN" sz="2400" dirty="0"/>
              <a:t>——</a:t>
            </a:r>
            <a:r>
              <a:rPr lang="zh-CN" altLang="en-US" sz="2400" dirty="0"/>
              <a:t>长远利益</a:t>
            </a:r>
          </a:p>
          <a:p>
            <a:pPr eaLnBrk="1" hangingPunct="1">
              <a:lnSpc>
                <a:spcPct val="120000"/>
              </a:lnSpc>
            </a:pPr>
            <a:r>
              <a:rPr lang="en-US" altLang="zh-CN" dirty="0"/>
              <a:t>2</a:t>
            </a:r>
            <a:r>
              <a:rPr lang="zh-CN" altLang="en-US" dirty="0"/>
              <a:t>、传播方式不同</a:t>
            </a:r>
          </a:p>
          <a:p>
            <a:pPr lvl="1" eaLnBrk="1" hangingPunct="1">
              <a:lnSpc>
                <a:spcPct val="120000"/>
              </a:lnSpc>
            </a:pPr>
            <a:r>
              <a:rPr lang="zh-CN" altLang="en-US" sz="2400" dirty="0"/>
              <a:t>（</a:t>
            </a:r>
            <a:r>
              <a:rPr lang="en-US" altLang="zh-CN" sz="2400" dirty="0"/>
              <a:t>1</a:t>
            </a:r>
            <a:r>
              <a:rPr lang="zh-CN" altLang="en-US" sz="2400" dirty="0"/>
              <a:t>）广告表现手法：浪漫主义创作</a:t>
            </a:r>
          </a:p>
          <a:p>
            <a:pPr lvl="1" eaLnBrk="1" hangingPunct="1">
              <a:lnSpc>
                <a:spcPct val="120000"/>
              </a:lnSpc>
            </a:pPr>
            <a:r>
              <a:rPr lang="zh-CN" altLang="en-US" sz="2400" dirty="0"/>
              <a:t>（</a:t>
            </a:r>
            <a:r>
              <a:rPr lang="en-US" altLang="zh-CN" sz="2400" dirty="0"/>
              <a:t>2</a:t>
            </a:r>
            <a:r>
              <a:rPr lang="zh-CN" altLang="en-US" sz="2400" dirty="0"/>
              <a:t>）公关表现：客观、实在</a:t>
            </a:r>
          </a:p>
          <a:p>
            <a:pPr lvl="2" eaLnBrk="1" hangingPunct="1">
              <a:lnSpc>
                <a:spcPct val="120000"/>
              </a:lnSpc>
            </a:pPr>
            <a:r>
              <a:rPr lang="zh-CN" altLang="en-US" sz="2000" dirty="0"/>
              <a:t>形式有新闻报道、新闻纪录片、记者招待会、新闻发布会等</a:t>
            </a:r>
          </a:p>
          <a:p>
            <a:endParaRPr lang="zh-CN" altLang="en-US" dirty="0"/>
          </a:p>
        </p:txBody>
      </p:sp>
    </p:spTree>
    <p:extLst>
      <p:ext uri="{BB962C8B-B14F-4D97-AF65-F5344CB8AC3E}">
        <p14:creationId xmlns:p14="http://schemas.microsoft.com/office/powerpoint/2010/main" val="4077286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lvl="0" eaLnBrk="1" hangingPunct="1">
              <a:lnSpc>
                <a:spcPct val="120000"/>
              </a:lnSpc>
              <a:buClr>
                <a:srgbClr val="CC3300"/>
              </a:buClr>
              <a:buFont typeface="Wingdings" pitchFamily="2" charset="2"/>
              <a:buChar char="§"/>
            </a:pPr>
            <a:r>
              <a:rPr lang="en-US" altLang="zh-CN" sz="3200">
                <a:solidFill>
                  <a:srgbClr val="000000"/>
                </a:solidFill>
                <a:ea typeface="黑体"/>
              </a:rPr>
              <a:t>3</a:t>
            </a:r>
            <a:r>
              <a:rPr lang="zh-CN" altLang="en-US" sz="3200">
                <a:solidFill>
                  <a:srgbClr val="000000"/>
                </a:solidFill>
                <a:ea typeface="黑体"/>
              </a:rPr>
              <a:t>、传播周期和范围不同</a:t>
            </a:r>
          </a:p>
          <a:p>
            <a:pPr lvl="1" eaLnBrk="1" hangingPunct="1">
              <a:lnSpc>
                <a:spcPct val="120000"/>
              </a:lnSpc>
              <a:buClr>
                <a:srgbClr val="0000FF"/>
              </a:buClr>
              <a:buFont typeface="Wingdings" pitchFamily="2" charset="2"/>
              <a:buChar char=""/>
            </a:pPr>
            <a:r>
              <a:rPr lang="zh-CN" altLang="en-US">
                <a:solidFill>
                  <a:srgbClr val="000000"/>
                </a:solidFill>
                <a:ea typeface="黑体"/>
              </a:rPr>
              <a:t>周期：一定时期</a:t>
            </a:r>
            <a:r>
              <a:rPr lang="en-US" altLang="zh-CN">
                <a:solidFill>
                  <a:srgbClr val="000000"/>
                </a:solidFill>
                <a:ea typeface="黑体"/>
              </a:rPr>
              <a:t>——</a:t>
            </a:r>
            <a:r>
              <a:rPr lang="zh-CN" altLang="en-US">
                <a:solidFill>
                  <a:srgbClr val="000000"/>
                </a:solidFill>
                <a:ea typeface="黑体"/>
              </a:rPr>
              <a:t>长久</a:t>
            </a:r>
          </a:p>
          <a:p>
            <a:pPr lvl="1" eaLnBrk="1" hangingPunct="1">
              <a:lnSpc>
                <a:spcPct val="120000"/>
              </a:lnSpc>
              <a:buClr>
                <a:srgbClr val="0000FF"/>
              </a:buClr>
              <a:buFont typeface="Wingdings" pitchFamily="2" charset="2"/>
              <a:buChar char=""/>
            </a:pPr>
            <a:r>
              <a:rPr lang="zh-CN" altLang="en-US">
                <a:solidFill>
                  <a:srgbClr val="000000"/>
                </a:solidFill>
                <a:ea typeface="黑体"/>
              </a:rPr>
              <a:t>范围：</a:t>
            </a:r>
            <a:r>
              <a:rPr lang="zh-CN" altLang="en-US">
                <a:solidFill>
                  <a:srgbClr val="13110F"/>
                </a:solidFill>
                <a:latin typeface="黑体" pitchFamily="2" charset="-122"/>
                <a:ea typeface="黑体"/>
                <a:sym typeface="宋体" pitchFamily="2" charset="-122"/>
              </a:rPr>
              <a:t>目标消费者</a:t>
            </a:r>
            <a:r>
              <a:rPr lang="en-US" altLang="zh-CN">
                <a:solidFill>
                  <a:srgbClr val="13110F"/>
                </a:solidFill>
                <a:latin typeface="宋体" pitchFamily="2" charset="-122"/>
                <a:ea typeface="黑体"/>
                <a:sym typeface="宋体" pitchFamily="2" charset="-122"/>
              </a:rPr>
              <a:t>——</a:t>
            </a:r>
            <a:r>
              <a:rPr lang="zh-CN" altLang="en-US">
                <a:solidFill>
                  <a:srgbClr val="13110F"/>
                </a:solidFill>
                <a:latin typeface="黑体" pitchFamily="2" charset="-122"/>
                <a:ea typeface="黑体"/>
                <a:sym typeface="宋体" pitchFamily="2" charset="-122"/>
              </a:rPr>
              <a:t>员工、顾客、持股人、竞争对手、供货商、其他社会机构</a:t>
            </a:r>
          </a:p>
          <a:p>
            <a:pPr lvl="0" eaLnBrk="1" hangingPunct="1">
              <a:lnSpc>
                <a:spcPct val="120000"/>
              </a:lnSpc>
              <a:buClr>
                <a:srgbClr val="CC3300"/>
              </a:buClr>
              <a:buFont typeface="Wingdings" pitchFamily="2" charset="2"/>
              <a:buChar char="§"/>
            </a:pPr>
            <a:r>
              <a:rPr lang="en-US" altLang="zh-CN" sz="3200">
                <a:solidFill>
                  <a:srgbClr val="000000"/>
                </a:solidFill>
                <a:ea typeface="黑体"/>
              </a:rPr>
              <a:t>4</a:t>
            </a:r>
            <a:r>
              <a:rPr lang="zh-CN" altLang="en-US" sz="3200">
                <a:solidFill>
                  <a:srgbClr val="000000"/>
                </a:solidFill>
                <a:ea typeface="黑体"/>
              </a:rPr>
              <a:t>、传播的地位和效果不同</a:t>
            </a:r>
          </a:p>
          <a:p>
            <a:pPr lvl="1" eaLnBrk="1" hangingPunct="1">
              <a:lnSpc>
                <a:spcPct val="120000"/>
              </a:lnSpc>
              <a:buClr>
                <a:srgbClr val="0000FF"/>
              </a:buClr>
              <a:buFont typeface="Wingdings" pitchFamily="2" charset="2"/>
              <a:buChar char=""/>
            </a:pPr>
            <a:r>
              <a:rPr lang="zh-CN" altLang="en-US">
                <a:solidFill>
                  <a:srgbClr val="000000"/>
                </a:solidFill>
                <a:ea typeface="黑体"/>
              </a:rPr>
              <a:t> “免费”（缺少控制）</a:t>
            </a:r>
            <a:r>
              <a:rPr lang="en-US" altLang="zh-CN">
                <a:solidFill>
                  <a:srgbClr val="000000"/>
                </a:solidFill>
                <a:ea typeface="黑体"/>
              </a:rPr>
              <a:t>——“</a:t>
            </a:r>
            <a:r>
              <a:rPr lang="zh-CN" altLang="en-US">
                <a:solidFill>
                  <a:srgbClr val="000000"/>
                </a:solidFill>
                <a:ea typeface="黑体"/>
              </a:rPr>
              <a:t>付费”（可以控制）</a:t>
            </a:r>
          </a:p>
          <a:p>
            <a:endParaRPr lang="zh-CN" altLang="en-US"/>
          </a:p>
        </p:txBody>
      </p:sp>
    </p:spTree>
    <p:extLst>
      <p:ext uri="{BB962C8B-B14F-4D97-AF65-F5344CB8AC3E}">
        <p14:creationId xmlns:p14="http://schemas.microsoft.com/office/powerpoint/2010/main" val="36730661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p:txBody>
          <a:bodyPr/>
          <a:lstStyle/>
          <a:p>
            <a:r>
              <a:rPr lang="zh-CN" altLang="en-US" dirty="0" smtClean="0">
                <a:solidFill>
                  <a:srgbClr val="FF0000"/>
                </a:solidFill>
              </a:rPr>
              <a:t>四、学习广告学的意义与方法（</a:t>
            </a:r>
            <a:r>
              <a:rPr lang="en-US" altLang="zh-CN" dirty="0" smtClean="0">
                <a:solidFill>
                  <a:srgbClr val="FF0000"/>
                </a:solidFill>
              </a:rPr>
              <a:t>P3-4)</a:t>
            </a:r>
            <a:r>
              <a:rPr lang="zh-CN" altLang="en-US" dirty="0" smtClean="0">
                <a:solidFill>
                  <a:srgbClr val="FF0000"/>
                </a:solidFill>
              </a:rPr>
              <a:t/>
            </a:r>
            <a:br>
              <a:rPr lang="zh-CN" altLang="en-US" dirty="0" smtClean="0">
                <a:solidFill>
                  <a:srgbClr val="FF0000"/>
                </a:solidFill>
              </a:rPr>
            </a:br>
            <a:endParaRPr lang="zh-CN" altLang="en-US" dirty="0">
              <a:solidFill>
                <a:srgbClr val="FF0000"/>
              </a:solidFill>
            </a:endParaRPr>
          </a:p>
        </p:txBody>
      </p:sp>
      <p:sp>
        <p:nvSpPr>
          <p:cNvPr id="6146" name="内容占位符 2"/>
          <p:cNvSpPr>
            <a:spLocks noGrp="1"/>
          </p:cNvSpPr>
          <p:nvPr>
            <p:ph idx="1"/>
          </p:nvPr>
        </p:nvSpPr>
        <p:spPr>
          <a:xfrm>
            <a:off x="395536" y="1124745"/>
            <a:ext cx="8229600" cy="5400600"/>
          </a:xfrm>
        </p:spPr>
        <p:txBody>
          <a:bodyPr/>
          <a:lstStyle/>
          <a:p>
            <a:r>
              <a:rPr lang="zh-CN" altLang="en-US" dirty="0" smtClean="0"/>
              <a:t>（一）学习广告学的意义</a:t>
            </a:r>
            <a:endParaRPr lang="en-US" altLang="zh-CN" dirty="0" smtClean="0"/>
          </a:p>
          <a:p>
            <a:r>
              <a:rPr lang="zh-CN" altLang="en-US" dirty="0" smtClean="0"/>
              <a:t>１、了解广告在经济建设与社会发展中的作用 </a:t>
            </a:r>
          </a:p>
          <a:p>
            <a:r>
              <a:rPr lang="zh-CN" altLang="en-US" dirty="0" smtClean="0"/>
              <a:t>２、掌握广告运作的一般规律 </a:t>
            </a:r>
          </a:p>
          <a:p>
            <a:r>
              <a:rPr lang="zh-CN" altLang="en-US" dirty="0" smtClean="0"/>
              <a:t>３、提高从业人员的素质、能力和水平 </a:t>
            </a:r>
          </a:p>
          <a:p>
            <a:r>
              <a:rPr lang="zh-CN" altLang="en-US" dirty="0" smtClean="0"/>
              <a:t>（二）学习广告学的方法</a:t>
            </a:r>
            <a:endParaRPr lang="en-US" altLang="zh-CN" dirty="0" smtClean="0"/>
          </a:p>
          <a:p>
            <a:r>
              <a:rPr lang="en-US" altLang="zh-CN" dirty="0" smtClean="0">
                <a:solidFill>
                  <a:srgbClr val="FF0000"/>
                </a:solidFill>
              </a:rPr>
              <a:t>1.</a:t>
            </a:r>
            <a:r>
              <a:rPr lang="zh-CN" altLang="en-US" dirty="0" smtClean="0">
                <a:solidFill>
                  <a:srgbClr val="FF0000"/>
                </a:solidFill>
              </a:rPr>
              <a:t>课堂教学法：</a:t>
            </a:r>
            <a:r>
              <a:rPr lang="zh-CN" altLang="en-US" dirty="0" smtClean="0"/>
              <a:t>认真预习、听课和复盘温习</a:t>
            </a:r>
            <a:endParaRPr lang="en-US" altLang="zh-CN" dirty="0" smtClean="0"/>
          </a:p>
          <a:p>
            <a:r>
              <a:rPr lang="zh-CN" altLang="en-US" dirty="0" smtClean="0"/>
              <a:t>通过认真阅读教材以及相关的推荐书目和资料以及听课，扎实掌握广告学的基本理论、观点和思维模式、研究方法与话语体系。</a:t>
            </a:r>
            <a:endParaRPr lang="en-US" altLang="zh-CN" dirty="0" smtClean="0"/>
          </a:p>
          <a:p>
            <a:r>
              <a:rPr lang="en-US" altLang="zh-CN" dirty="0" smtClean="0">
                <a:solidFill>
                  <a:srgbClr val="FF0000"/>
                </a:solidFill>
              </a:rPr>
              <a:t>2.</a:t>
            </a:r>
            <a:r>
              <a:rPr lang="zh-CN" altLang="en-US" dirty="0" smtClean="0">
                <a:solidFill>
                  <a:srgbClr val="FF0000"/>
                </a:solidFill>
              </a:rPr>
              <a:t>实践教学法：</a:t>
            </a:r>
            <a:r>
              <a:rPr lang="zh-CN" altLang="en-US" dirty="0" smtClean="0"/>
              <a:t>通过深入行业实践，去观察、体验、思考，获得丰富直观的感受，同时检验课堂理论学习的效果。</a:t>
            </a:r>
            <a:endParaRPr lang="en-US" altLang="zh-CN" dirty="0" smtClean="0"/>
          </a:p>
          <a:p>
            <a:endParaRPr lang="en-US" altLang="zh-CN" dirty="0" smtClean="0"/>
          </a:p>
        </p:txBody>
      </p:sp>
    </p:spTree>
    <p:extLst>
      <p:ext uri="{BB962C8B-B14F-4D97-AF65-F5344CB8AC3E}">
        <p14:creationId xmlns:p14="http://schemas.microsoft.com/office/powerpoint/2010/main" val="330974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chemeClr val="tx1"/>
                </a:solidFill>
              </a:rPr>
              <a:t>（三）学好广告学需把握的原则</a:t>
            </a:r>
            <a:endParaRPr lang="zh-CN" altLang="en-US" dirty="0">
              <a:solidFill>
                <a:schemeClr val="tx1"/>
              </a:solidFill>
            </a:endParaRPr>
          </a:p>
        </p:txBody>
      </p:sp>
      <p:sp>
        <p:nvSpPr>
          <p:cNvPr id="3" name="内容占位符 2"/>
          <p:cNvSpPr>
            <a:spLocks noGrp="1"/>
          </p:cNvSpPr>
          <p:nvPr>
            <p:ph idx="1"/>
          </p:nvPr>
        </p:nvSpPr>
        <p:spPr/>
        <p:txBody>
          <a:bodyPr/>
          <a:lstStyle/>
          <a:p>
            <a:r>
              <a:rPr lang="zh-CN" altLang="en-US" b="1" dirty="0"/>
              <a:t>１、理论与实践相结合</a:t>
            </a:r>
            <a:endParaRPr lang="en-US" altLang="zh-CN" b="1" dirty="0"/>
          </a:p>
          <a:p>
            <a:r>
              <a:rPr lang="zh-CN" altLang="en-US" b="1" dirty="0"/>
              <a:t>２</a:t>
            </a:r>
            <a:r>
              <a:rPr lang="zh-CN" altLang="en-US" b="1" dirty="0" smtClean="0"/>
              <a:t>、</a:t>
            </a:r>
            <a:r>
              <a:rPr lang="zh-CN" altLang="en-US" b="1" dirty="0"/>
              <a:t>世界</a:t>
            </a:r>
            <a:r>
              <a:rPr lang="zh-CN" altLang="en-US" b="1" dirty="0" smtClean="0"/>
              <a:t>与本土相</a:t>
            </a:r>
            <a:r>
              <a:rPr lang="zh-CN" altLang="en-US" b="1" dirty="0"/>
              <a:t>结合</a:t>
            </a:r>
          </a:p>
          <a:p>
            <a:r>
              <a:rPr lang="zh-CN" altLang="en-US" b="1" dirty="0"/>
              <a:t>３、历史与前沿相结合 </a:t>
            </a:r>
            <a:endParaRPr lang="en-US" altLang="zh-CN" b="1" dirty="0" smtClean="0"/>
          </a:p>
          <a:p>
            <a:r>
              <a:rPr lang="en-US" altLang="zh-CN" b="1" dirty="0" smtClean="0"/>
              <a:t>4</a:t>
            </a:r>
            <a:r>
              <a:rPr lang="zh-CN" altLang="en-US" b="1" dirty="0" smtClean="0"/>
              <a:t>、具体变革与系统理解相结合</a:t>
            </a:r>
            <a:endParaRPr lang="en-US" altLang="zh-CN" b="1" dirty="0" smtClean="0"/>
          </a:p>
          <a:p>
            <a:r>
              <a:rPr lang="en-US" altLang="zh-CN" b="1" dirty="0" smtClean="0"/>
              <a:t>5</a:t>
            </a:r>
            <a:r>
              <a:rPr lang="zh-CN" altLang="en-US" b="1" dirty="0" smtClean="0"/>
              <a:t>、要有问题意识</a:t>
            </a:r>
            <a:endParaRPr lang="zh-CN" altLang="en-US" b="1" dirty="0"/>
          </a:p>
          <a:p>
            <a:endParaRPr lang="zh-CN" altLang="en-US" dirty="0"/>
          </a:p>
        </p:txBody>
      </p:sp>
    </p:spTree>
    <p:extLst>
      <p:ext uri="{BB962C8B-B14F-4D97-AF65-F5344CB8AC3E}">
        <p14:creationId xmlns:p14="http://schemas.microsoft.com/office/powerpoint/2010/main" val="4264743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0">
          <a:blip r:embed="rId3">
            <a:lum/>
          </a:blip>
          <a:srcRect/>
          <a:stretch>
            <a:fillRect/>
          </a:stretch>
        </a:blipFill>
        <a:effectLst/>
      </p:bgPr>
    </p:bg>
    <p:spTree>
      <p:nvGrpSpPr>
        <p:cNvPr id="1" name=""/>
        <p:cNvGrpSpPr/>
        <p:nvPr/>
      </p:nvGrpSpPr>
      <p:grpSpPr>
        <a:xfrm>
          <a:off x="0" y="0"/>
          <a:ext cx="0" cy="0"/>
          <a:chOff x="0" y="0"/>
          <a:chExt cx="0" cy="0"/>
        </a:xfrm>
      </p:grpSpPr>
      <p:sp>
        <p:nvSpPr>
          <p:cNvPr id="6146" name="内容占位符 2"/>
          <p:cNvSpPr>
            <a:spLocks noGrp="1"/>
          </p:cNvSpPr>
          <p:nvPr>
            <p:ph idx="1"/>
          </p:nvPr>
        </p:nvSpPr>
        <p:spPr>
          <a:xfrm>
            <a:off x="395288" y="1379538"/>
            <a:ext cx="8229600" cy="5145087"/>
          </a:xfrm>
          <a:noFill/>
          <a:ln>
            <a:noFill/>
          </a:ln>
        </p:spPr>
        <p:txBody>
          <a:bodyPr/>
          <a:lstStyle/>
          <a:p>
            <a:pPr marL="0" indent="0">
              <a:buNone/>
            </a:pPr>
            <a:r>
              <a:rPr lang="zh-CN" altLang="en-US" dirty="0" smtClean="0"/>
              <a:t>一、广告学的源起</a:t>
            </a:r>
          </a:p>
          <a:p>
            <a:pPr marL="0" indent="0">
              <a:buNone/>
            </a:pPr>
            <a:r>
              <a:rPr lang="zh-CN" altLang="en-US" dirty="0" smtClean="0"/>
              <a:t>二、广告学在中国的发展</a:t>
            </a:r>
            <a:endParaRPr lang="en-US" altLang="zh-CN" dirty="0" smtClean="0"/>
          </a:p>
          <a:p>
            <a:pPr marL="0" indent="0">
              <a:buNone/>
            </a:pPr>
            <a:endParaRPr lang="en-US" altLang="zh-CN" dirty="0" smtClean="0"/>
          </a:p>
        </p:txBody>
      </p:sp>
      <p:sp>
        <p:nvSpPr>
          <p:cNvPr id="7" name="标题 1"/>
          <p:cNvSpPr>
            <a:spLocks noGrp="1"/>
          </p:cNvSpPr>
          <p:nvPr>
            <p:ph type="title"/>
          </p:nvPr>
        </p:nvSpPr>
        <p:spPr>
          <a:xfrm>
            <a:off x="179388" y="144463"/>
            <a:ext cx="7993062" cy="836612"/>
          </a:xfrm>
          <a:noFill/>
          <a:ln>
            <a:noFill/>
          </a:ln>
        </p:spPr>
        <p:txBody>
          <a:bodyPr/>
          <a:lstStyle/>
          <a:p>
            <a:pPr algn="ctr"/>
            <a:r>
              <a:rPr lang="zh-CN" altLang="en-US" sz="3200" dirty="0">
                <a:solidFill>
                  <a:schemeClr val="tx1"/>
                </a:solidFill>
                <a:latin typeface="Microsoft YaHei" charset="-122"/>
                <a:ea typeface="Microsoft YaHei" charset="-122"/>
                <a:cs typeface="Microsoft YaHei" charset="-122"/>
              </a:rPr>
              <a:t>第二节 广告学的产生与发展 </a:t>
            </a:r>
          </a:p>
        </p:txBody>
      </p:sp>
      <p:graphicFrame>
        <p:nvGraphicFramePr>
          <p:cNvPr id="6" name="图示 1"/>
          <p:cNvGraphicFramePr/>
          <p:nvPr>
            <p:extLst>
              <p:ext uri="{D42A27DB-BD31-4B8C-83A1-F6EECF244321}">
                <p14:modId xmlns:p14="http://schemas.microsoft.com/office/powerpoint/2010/main" val="1451178464"/>
              </p:ext>
            </p:extLst>
          </p:nvPr>
        </p:nvGraphicFramePr>
        <p:xfrm>
          <a:off x="395288" y="2330340"/>
          <a:ext cx="7920880" cy="4064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60921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内容占位符 2"/>
          <p:cNvSpPr>
            <a:spLocks noGrp="1"/>
          </p:cNvSpPr>
          <p:nvPr>
            <p:ph idx="1"/>
          </p:nvPr>
        </p:nvSpPr>
        <p:spPr>
          <a:xfrm>
            <a:off x="395288" y="1379538"/>
            <a:ext cx="8640762" cy="5145087"/>
          </a:xfrm>
          <a:noFill/>
          <a:ln>
            <a:noFill/>
          </a:ln>
        </p:spPr>
        <p:txBody>
          <a:bodyPr/>
          <a:lstStyle/>
          <a:p>
            <a:pPr marL="0" indent="0">
              <a:buNone/>
            </a:pPr>
            <a:endParaRPr lang="zh-CN" altLang="en-US" kern="1200" dirty="0">
              <a:latin typeface="+mn-lt"/>
              <a:ea typeface="+mn-ea"/>
              <a:cs typeface="+mn-cs"/>
            </a:endParaRPr>
          </a:p>
        </p:txBody>
      </p:sp>
      <p:sp>
        <p:nvSpPr>
          <p:cNvPr id="7171" name="标题 1"/>
          <p:cNvSpPr>
            <a:spLocks noGrp="1"/>
          </p:cNvSpPr>
          <p:nvPr>
            <p:ph type="title"/>
          </p:nvPr>
        </p:nvSpPr>
        <p:spPr>
          <a:xfrm>
            <a:off x="179388" y="144463"/>
            <a:ext cx="7993062" cy="836612"/>
          </a:xfrm>
          <a:noFill/>
          <a:ln>
            <a:noFill/>
          </a:ln>
        </p:spPr>
        <p:txBody>
          <a:bodyPr/>
          <a:lstStyle/>
          <a:p>
            <a:r>
              <a:rPr lang="zh-CN" altLang="en-US" sz="4400">
                <a:solidFill>
                  <a:srgbClr val="FF0000"/>
                </a:solidFill>
              </a:rPr>
              <a:t>三、广告学在国外的发展</a:t>
            </a:r>
            <a:r>
              <a:rPr lang="en-US" altLang="zh-CN" sz="4400"/>
              <a:t/>
            </a:r>
            <a:br>
              <a:rPr lang="en-US" altLang="zh-CN" sz="4400"/>
            </a:br>
            <a:endParaRPr lang="zh-CN" altLang="en-US" kern="1200" dirty="0">
              <a:latin typeface="黑体" panose="02010609060101010101" pitchFamily="49" charset="-122"/>
              <a:ea typeface="黑体" panose="02010609060101010101" pitchFamily="49" charset="-122"/>
              <a:cs typeface="+mj-cs"/>
            </a:endParaRPr>
          </a:p>
        </p:txBody>
      </p:sp>
      <p:sp>
        <p:nvSpPr>
          <p:cNvPr id="5" name="矩形 4"/>
          <p:cNvSpPr/>
          <p:nvPr/>
        </p:nvSpPr>
        <p:spPr>
          <a:xfrm>
            <a:off x="900113" y="2344738"/>
            <a:ext cx="7343775" cy="74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6" name="矩形 5"/>
          <p:cNvSpPr/>
          <p:nvPr/>
        </p:nvSpPr>
        <p:spPr>
          <a:xfrm>
            <a:off x="955675" y="3690938"/>
            <a:ext cx="7343775" cy="76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7" name="矩形 6"/>
          <p:cNvSpPr/>
          <p:nvPr/>
        </p:nvSpPr>
        <p:spPr>
          <a:xfrm>
            <a:off x="938213" y="5038725"/>
            <a:ext cx="7345362" cy="746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8" name="矩形 7"/>
          <p:cNvSpPr/>
          <p:nvPr/>
        </p:nvSpPr>
        <p:spPr>
          <a:xfrm>
            <a:off x="8243888" y="2344738"/>
            <a:ext cx="76200" cy="142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9" name="矩形 8"/>
          <p:cNvSpPr/>
          <p:nvPr/>
        </p:nvSpPr>
        <p:spPr>
          <a:xfrm>
            <a:off x="908050" y="3690938"/>
            <a:ext cx="76200" cy="142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10" name="椭圆 9"/>
          <p:cNvSpPr/>
          <p:nvPr/>
        </p:nvSpPr>
        <p:spPr>
          <a:xfrm>
            <a:off x="1976438" y="2278063"/>
            <a:ext cx="201612" cy="2095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11" name="文本框 10"/>
          <p:cNvSpPr txBox="1">
            <a:spLocks noChangeArrowheads="1"/>
          </p:cNvSpPr>
          <p:nvPr/>
        </p:nvSpPr>
        <p:spPr bwMode="auto">
          <a:xfrm>
            <a:off x="769938" y="2474913"/>
            <a:ext cx="25336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gn="ctr"/>
            <a:r>
              <a:rPr lang="zh-CN" altLang="en-US" dirty="0" smtClean="0"/>
              <a:t>第一次工业革命</a:t>
            </a:r>
            <a:endParaRPr lang="en-US" altLang="zh-CN" dirty="0" smtClean="0"/>
          </a:p>
          <a:p>
            <a:pPr algn="ctr"/>
            <a:r>
              <a:rPr lang="zh-CN" altLang="en-US" dirty="0" smtClean="0"/>
              <a:t>社会分工的细化与发展</a:t>
            </a:r>
            <a:endParaRPr lang="en-US" altLang="zh-CN" dirty="0" smtClean="0"/>
          </a:p>
          <a:p>
            <a:pPr algn="ctr"/>
            <a:r>
              <a:rPr lang="zh-CN" altLang="en-US" dirty="0" smtClean="0"/>
              <a:t>（广告登场的基础与条件）</a:t>
            </a:r>
            <a:endParaRPr lang="en-US" altLang="zh-CN" dirty="0"/>
          </a:p>
        </p:txBody>
      </p:sp>
      <p:sp>
        <p:nvSpPr>
          <p:cNvPr id="12" name="椭圆 11"/>
          <p:cNvSpPr/>
          <p:nvPr/>
        </p:nvSpPr>
        <p:spPr>
          <a:xfrm>
            <a:off x="4101253" y="2303463"/>
            <a:ext cx="201612" cy="2095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13" name="文本框 12"/>
          <p:cNvSpPr txBox="1">
            <a:spLocks noChangeArrowheads="1"/>
          </p:cNvSpPr>
          <p:nvPr/>
        </p:nvSpPr>
        <p:spPr bwMode="auto">
          <a:xfrm>
            <a:off x="3143472" y="2474913"/>
            <a:ext cx="221773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gn="ctr"/>
            <a:r>
              <a:rPr lang="en-US" altLang="zh-CN" dirty="0" smtClean="0"/>
              <a:t>19</a:t>
            </a:r>
            <a:r>
              <a:rPr lang="zh-CN" altLang="en-US" dirty="0" smtClean="0"/>
              <a:t>世纪后半期</a:t>
            </a:r>
            <a:endParaRPr lang="en-US" altLang="zh-CN" dirty="0" smtClean="0"/>
          </a:p>
          <a:p>
            <a:pPr algn="ctr"/>
            <a:r>
              <a:rPr lang="zh-CN" altLang="en-US" dirty="0" smtClean="0"/>
              <a:t>第二次工业革命</a:t>
            </a:r>
            <a:endParaRPr lang="en-US" altLang="zh-CN" dirty="0" smtClean="0"/>
          </a:p>
          <a:p>
            <a:pPr algn="ctr"/>
            <a:r>
              <a:rPr lang="zh-CN" altLang="en-US" dirty="0" smtClean="0"/>
              <a:t>广告活动日益频繁</a:t>
            </a:r>
            <a:endParaRPr lang="en-US" altLang="zh-CN" dirty="0" smtClean="0"/>
          </a:p>
        </p:txBody>
      </p:sp>
      <p:sp>
        <p:nvSpPr>
          <p:cNvPr id="14" name="椭圆 13"/>
          <p:cNvSpPr/>
          <p:nvPr/>
        </p:nvSpPr>
        <p:spPr>
          <a:xfrm>
            <a:off x="6051587" y="2303463"/>
            <a:ext cx="201613" cy="2095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15" name="文本框 14"/>
          <p:cNvSpPr txBox="1">
            <a:spLocks noChangeArrowheads="1"/>
          </p:cNvSpPr>
          <p:nvPr/>
        </p:nvSpPr>
        <p:spPr bwMode="auto">
          <a:xfrm>
            <a:off x="5032394" y="2559050"/>
            <a:ext cx="22161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gn="ctr"/>
            <a:r>
              <a:rPr lang="en-US" altLang="zh-CN" dirty="0" smtClean="0"/>
              <a:t>1866</a:t>
            </a:r>
            <a:endParaRPr lang="en-US" altLang="zh-CN" dirty="0"/>
          </a:p>
          <a:p>
            <a:pPr algn="ctr"/>
            <a:r>
              <a:rPr lang="zh-CN" altLang="en-US" dirty="0" smtClean="0"/>
              <a:t>《路牌广告史》</a:t>
            </a:r>
            <a:endParaRPr lang="zh-CN" altLang="en-US" dirty="0"/>
          </a:p>
        </p:txBody>
      </p:sp>
      <p:sp>
        <p:nvSpPr>
          <p:cNvPr id="16" name="椭圆 15"/>
          <p:cNvSpPr/>
          <p:nvPr/>
        </p:nvSpPr>
        <p:spPr>
          <a:xfrm>
            <a:off x="7527926" y="2269054"/>
            <a:ext cx="200025" cy="2095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17" name="等腰三角形 15"/>
          <p:cNvSpPr/>
          <p:nvPr/>
        </p:nvSpPr>
        <p:spPr>
          <a:xfrm rot="10620000">
            <a:off x="8137525" y="3584575"/>
            <a:ext cx="288925" cy="28892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18" name="等腰三角形 16"/>
          <p:cNvSpPr/>
          <p:nvPr/>
        </p:nvSpPr>
        <p:spPr>
          <a:xfrm rot="16200000">
            <a:off x="731044" y="3555207"/>
            <a:ext cx="288925" cy="28733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19" name="等腰三角形 17"/>
          <p:cNvSpPr/>
          <p:nvPr/>
        </p:nvSpPr>
        <p:spPr>
          <a:xfrm rot="10620000">
            <a:off x="803275" y="4932363"/>
            <a:ext cx="287338" cy="28733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20" name="等腰三角形 18"/>
          <p:cNvSpPr/>
          <p:nvPr/>
        </p:nvSpPr>
        <p:spPr>
          <a:xfrm rot="5400000">
            <a:off x="8145463" y="4938713"/>
            <a:ext cx="287337" cy="28733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21" name="椭圆 20"/>
          <p:cNvSpPr/>
          <p:nvPr/>
        </p:nvSpPr>
        <p:spPr>
          <a:xfrm>
            <a:off x="7165975" y="3624263"/>
            <a:ext cx="201613" cy="2095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22" name="文本框 20"/>
          <p:cNvSpPr txBox="1">
            <a:spLocks noChangeArrowheads="1"/>
          </p:cNvSpPr>
          <p:nvPr/>
        </p:nvSpPr>
        <p:spPr bwMode="auto">
          <a:xfrm>
            <a:off x="6463287" y="3843338"/>
            <a:ext cx="191077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gn="ctr"/>
            <a:r>
              <a:rPr lang="en-US" altLang="zh-CN" dirty="0" smtClean="0"/>
              <a:t>1900</a:t>
            </a:r>
            <a:endParaRPr lang="en-US" altLang="zh-CN" dirty="0"/>
          </a:p>
          <a:p>
            <a:pPr algn="ctr"/>
            <a:r>
              <a:rPr lang="en-US" altLang="zh-CN" dirty="0" smtClean="0"/>
              <a:t>《</a:t>
            </a:r>
            <a:r>
              <a:rPr lang="zh-CN" altLang="en-US" dirty="0" smtClean="0"/>
              <a:t>广告心理学研究》</a:t>
            </a:r>
            <a:endParaRPr lang="zh-CN" altLang="en-US" dirty="0"/>
          </a:p>
        </p:txBody>
      </p:sp>
      <p:sp>
        <p:nvSpPr>
          <p:cNvPr id="23" name="椭圆 22"/>
          <p:cNvSpPr/>
          <p:nvPr/>
        </p:nvSpPr>
        <p:spPr>
          <a:xfrm>
            <a:off x="5857875" y="3624263"/>
            <a:ext cx="200025" cy="2095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24" name="文本框 22"/>
          <p:cNvSpPr txBox="1">
            <a:spLocks noChangeArrowheads="1"/>
          </p:cNvSpPr>
          <p:nvPr/>
        </p:nvSpPr>
        <p:spPr bwMode="auto">
          <a:xfrm>
            <a:off x="4848225" y="3879850"/>
            <a:ext cx="22177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gn="ctr"/>
            <a:r>
              <a:rPr lang="en-US" altLang="zh-CN" dirty="0" smtClean="0"/>
              <a:t>1903</a:t>
            </a:r>
            <a:r>
              <a:rPr lang="zh-CN" altLang="en-US" dirty="0" smtClean="0"/>
              <a:t>年</a:t>
            </a:r>
            <a:endParaRPr lang="en-US" altLang="zh-CN" dirty="0" smtClean="0"/>
          </a:p>
          <a:p>
            <a:pPr algn="ctr"/>
            <a:r>
              <a:rPr lang="en-US" altLang="zh-CN" dirty="0" smtClean="0"/>
              <a:t>《</a:t>
            </a:r>
            <a:r>
              <a:rPr lang="zh-CN" altLang="en-US" dirty="0" smtClean="0"/>
              <a:t>广告学原理</a:t>
            </a:r>
            <a:r>
              <a:rPr lang="en-US" altLang="zh-CN" dirty="0" smtClean="0"/>
              <a:t>》</a:t>
            </a:r>
            <a:endParaRPr lang="zh-CN" altLang="en-US" dirty="0"/>
          </a:p>
        </p:txBody>
      </p:sp>
      <p:sp>
        <p:nvSpPr>
          <p:cNvPr id="25" name="椭圆 24"/>
          <p:cNvSpPr/>
          <p:nvPr/>
        </p:nvSpPr>
        <p:spPr>
          <a:xfrm>
            <a:off x="4191000" y="3624263"/>
            <a:ext cx="200025" cy="2095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26" name="文本框 25"/>
          <p:cNvSpPr txBox="1">
            <a:spLocks noChangeArrowheads="1"/>
          </p:cNvSpPr>
          <p:nvPr/>
        </p:nvSpPr>
        <p:spPr bwMode="auto">
          <a:xfrm>
            <a:off x="3181350" y="3879850"/>
            <a:ext cx="221773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gn="ctr"/>
            <a:r>
              <a:rPr lang="en-US" altLang="zh-CN" dirty="0"/>
              <a:t>20</a:t>
            </a:r>
            <a:r>
              <a:rPr lang="zh-CN" altLang="en-US" dirty="0" smtClean="0"/>
              <a:t>世纪</a:t>
            </a:r>
            <a:r>
              <a:rPr lang="en-US" altLang="zh-CN" dirty="0" smtClean="0"/>
              <a:t>20-40</a:t>
            </a:r>
            <a:r>
              <a:rPr lang="zh-CN" altLang="en-US" dirty="0" smtClean="0"/>
              <a:t>年代</a:t>
            </a:r>
            <a:endParaRPr lang="zh-CN" altLang="en-US" dirty="0"/>
          </a:p>
          <a:p>
            <a:pPr algn="ctr"/>
            <a:r>
              <a:rPr lang="zh-CN" altLang="en-US" dirty="0" smtClean="0"/>
              <a:t>广告在推销商的作用受到重视</a:t>
            </a:r>
            <a:endParaRPr lang="zh-CN" altLang="en-US" dirty="0"/>
          </a:p>
        </p:txBody>
      </p:sp>
      <p:sp>
        <p:nvSpPr>
          <p:cNvPr id="27" name="椭圆 26"/>
          <p:cNvSpPr/>
          <p:nvPr/>
        </p:nvSpPr>
        <p:spPr>
          <a:xfrm>
            <a:off x="2165350" y="3633788"/>
            <a:ext cx="200025" cy="2095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28" name="文本框 27"/>
          <p:cNvSpPr txBox="1">
            <a:spLocks noChangeArrowheads="1"/>
          </p:cNvSpPr>
          <p:nvPr/>
        </p:nvSpPr>
        <p:spPr bwMode="auto">
          <a:xfrm>
            <a:off x="1155700" y="3863975"/>
            <a:ext cx="23241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gn="ctr"/>
            <a:r>
              <a:rPr lang="zh-CN" altLang="en-US" dirty="0" smtClean="0"/>
              <a:t>第二次世界大战后</a:t>
            </a:r>
            <a:endParaRPr lang="en-US" altLang="zh-CN" dirty="0" smtClean="0"/>
          </a:p>
          <a:p>
            <a:pPr algn="ctr"/>
            <a:r>
              <a:rPr lang="zh-CN" altLang="en-US" dirty="0" smtClean="0"/>
              <a:t>电视成为主流媒体，广告对创意需求增大，“品牌形象”</a:t>
            </a:r>
            <a:endParaRPr lang="zh-CN" altLang="zh-CN" dirty="0"/>
          </a:p>
        </p:txBody>
      </p:sp>
      <p:sp>
        <p:nvSpPr>
          <p:cNvPr id="29" name="椭圆 28"/>
          <p:cNvSpPr/>
          <p:nvPr/>
        </p:nvSpPr>
        <p:spPr>
          <a:xfrm>
            <a:off x="1646238" y="4981575"/>
            <a:ext cx="200025" cy="2095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30" name="椭圆 29"/>
          <p:cNvSpPr/>
          <p:nvPr/>
        </p:nvSpPr>
        <p:spPr>
          <a:xfrm>
            <a:off x="3279775" y="4964113"/>
            <a:ext cx="200025" cy="2095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31" name="文本框 31"/>
          <p:cNvSpPr txBox="1">
            <a:spLocks noChangeArrowheads="1"/>
          </p:cNvSpPr>
          <p:nvPr/>
        </p:nvSpPr>
        <p:spPr bwMode="auto">
          <a:xfrm>
            <a:off x="2555775" y="5194300"/>
            <a:ext cx="193208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gn="ctr"/>
            <a:r>
              <a:rPr lang="en-US" altLang="zh-CN" dirty="0" smtClean="0"/>
              <a:t>21</a:t>
            </a:r>
            <a:r>
              <a:rPr lang="zh-CN" altLang="en-US" dirty="0" smtClean="0"/>
              <a:t>世纪</a:t>
            </a:r>
            <a:endParaRPr lang="en-US" altLang="zh-CN" dirty="0" smtClean="0"/>
          </a:p>
          <a:p>
            <a:pPr algn="ctr"/>
            <a:r>
              <a:rPr lang="zh-CN" altLang="en-US" dirty="0" smtClean="0"/>
              <a:t>广告新业态与新现象，研究视角多维</a:t>
            </a:r>
            <a:endParaRPr lang="zh-CN" altLang="zh-CN" dirty="0"/>
          </a:p>
        </p:txBody>
      </p:sp>
      <p:sp>
        <p:nvSpPr>
          <p:cNvPr id="32" name="椭圆 31"/>
          <p:cNvSpPr/>
          <p:nvPr/>
        </p:nvSpPr>
        <p:spPr>
          <a:xfrm>
            <a:off x="5129213" y="4981575"/>
            <a:ext cx="200025" cy="2095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33" name="椭圆 32"/>
          <p:cNvSpPr/>
          <p:nvPr/>
        </p:nvSpPr>
        <p:spPr>
          <a:xfrm>
            <a:off x="6965950" y="4978400"/>
            <a:ext cx="200025" cy="2095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34" name="文本框 33"/>
          <p:cNvSpPr txBox="1">
            <a:spLocks noChangeArrowheads="1"/>
          </p:cNvSpPr>
          <p:nvPr/>
        </p:nvSpPr>
        <p:spPr bwMode="auto">
          <a:xfrm>
            <a:off x="6519863" y="2541994"/>
            <a:ext cx="22161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gn="ctr"/>
            <a:r>
              <a:rPr lang="en-US" altLang="zh-CN" dirty="0" smtClean="0"/>
              <a:t>1875</a:t>
            </a:r>
            <a:r>
              <a:rPr lang="zh-CN" altLang="en-US" dirty="0" smtClean="0"/>
              <a:t>年</a:t>
            </a:r>
            <a:endParaRPr lang="en-US" altLang="zh-CN" dirty="0"/>
          </a:p>
          <a:p>
            <a:pPr algn="ctr"/>
            <a:r>
              <a:rPr lang="zh-CN" altLang="en-US" dirty="0" smtClean="0"/>
              <a:t>《早起广告史》</a:t>
            </a:r>
            <a:endParaRPr lang="zh-CN" altLang="en-US" dirty="0"/>
          </a:p>
        </p:txBody>
      </p:sp>
      <p:sp>
        <p:nvSpPr>
          <p:cNvPr id="35" name="文本框 31"/>
          <p:cNvSpPr txBox="1">
            <a:spLocks noChangeArrowheads="1"/>
          </p:cNvSpPr>
          <p:nvPr/>
        </p:nvSpPr>
        <p:spPr bwMode="auto">
          <a:xfrm>
            <a:off x="638175" y="5258071"/>
            <a:ext cx="221615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gn="ctr"/>
            <a:r>
              <a:rPr lang="en-US" altLang="zh-CN" dirty="0" smtClean="0"/>
              <a:t>20</a:t>
            </a:r>
            <a:r>
              <a:rPr lang="zh-CN" altLang="en-US" dirty="0" smtClean="0"/>
              <a:t>世纪</a:t>
            </a:r>
            <a:r>
              <a:rPr lang="en-US" altLang="zh-CN" dirty="0" smtClean="0"/>
              <a:t>70</a:t>
            </a:r>
            <a:r>
              <a:rPr lang="zh-CN" altLang="en-US" dirty="0" smtClean="0"/>
              <a:t>年代</a:t>
            </a:r>
            <a:endParaRPr lang="en-US" altLang="zh-CN" dirty="0" smtClean="0"/>
          </a:p>
          <a:p>
            <a:pPr algn="ctr"/>
            <a:r>
              <a:rPr lang="zh-CN" altLang="en-US" dirty="0" smtClean="0"/>
              <a:t>定位理论</a:t>
            </a:r>
            <a:endParaRPr lang="en-US" altLang="zh-CN" dirty="0" smtClean="0"/>
          </a:p>
          <a:p>
            <a:pPr algn="ctr"/>
            <a:r>
              <a:rPr lang="zh-CN" altLang="en-US" dirty="0" smtClean="0"/>
              <a:t>整合营销传播</a:t>
            </a:r>
            <a:endParaRPr lang="zh-CN" altLang="zh-CN" dirty="0"/>
          </a:p>
        </p:txBody>
      </p:sp>
      <p:sp>
        <p:nvSpPr>
          <p:cNvPr id="36" name="文本框 31"/>
          <p:cNvSpPr txBox="1">
            <a:spLocks noChangeArrowheads="1"/>
          </p:cNvSpPr>
          <p:nvPr/>
        </p:nvSpPr>
        <p:spPr bwMode="auto">
          <a:xfrm>
            <a:off x="4391025" y="5194300"/>
            <a:ext cx="19320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gn="ctr"/>
            <a:r>
              <a:rPr lang="zh-CN" altLang="en-US" dirty="0" smtClean="0"/>
              <a:t>批判学派</a:t>
            </a:r>
            <a:endParaRPr lang="en-US" altLang="zh-CN" dirty="0" smtClean="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内容占位符 2"/>
          <p:cNvSpPr>
            <a:spLocks noGrp="1"/>
          </p:cNvSpPr>
          <p:nvPr>
            <p:ph idx="1"/>
          </p:nvPr>
        </p:nvSpPr>
        <p:spPr>
          <a:xfrm>
            <a:off x="395288" y="1379538"/>
            <a:ext cx="8640762" cy="5145087"/>
          </a:xfrm>
          <a:noFill/>
          <a:ln>
            <a:noFill/>
          </a:ln>
        </p:spPr>
        <p:txBody>
          <a:bodyPr/>
          <a:lstStyle/>
          <a:p>
            <a:pPr marL="0" indent="0">
              <a:buNone/>
            </a:pPr>
            <a:r>
              <a:rPr lang="zh-CN" altLang="en-US" dirty="0" smtClean="0"/>
              <a:t>一、社会主义市场经济与广告实践</a:t>
            </a:r>
            <a:endParaRPr lang="en-US" altLang="zh-CN" dirty="0" smtClean="0"/>
          </a:p>
          <a:p>
            <a:pPr marL="0" indent="0">
              <a:buNone/>
            </a:pPr>
            <a:endParaRPr lang="en-US" altLang="zh-CN" dirty="0"/>
          </a:p>
          <a:p>
            <a:pPr marL="0" indent="0">
              <a:buNone/>
            </a:pPr>
            <a:r>
              <a:rPr lang="zh-CN" altLang="en-US" dirty="0" smtClean="0"/>
              <a:t>    </a:t>
            </a:r>
            <a:r>
              <a:rPr lang="zh-CN" altLang="en-US" sz="2400" dirty="0" smtClean="0"/>
              <a:t>我国</a:t>
            </a:r>
            <a:r>
              <a:rPr lang="zh-CN" altLang="en-US" sz="2400" dirty="0"/>
              <a:t>广告实践在社会主义市场经济中发挥着重要作用，主要体现在以下三</a:t>
            </a:r>
            <a:r>
              <a:rPr lang="zh-CN" altLang="en-US" sz="2400" dirty="0" smtClean="0"/>
              <a:t>个方面 ：</a:t>
            </a:r>
            <a:r>
              <a:rPr lang="en-US" altLang="zh-CN" sz="2400" dirty="0" smtClean="0"/>
              <a:t> </a:t>
            </a:r>
          </a:p>
          <a:p>
            <a:pPr marL="0" indent="0">
              <a:buNone/>
            </a:pPr>
            <a:r>
              <a:rPr lang="mr-IN" altLang="zh-CN" sz="2400" dirty="0"/>
              <a:t>(</a:t>
            </a:r>
            <a:r>
              <a:rPr lang="zh-CN" altLang="mr-IN" sz="2400" dirty="0"/>
              <a:t>一</a:t>
            </a:r>
            <a:r>
              <a:rPr lang="mr-IN" altLang="zh-CN" sz="2400" dirty="0" smtClean="0"/>
              <a:t>)</a:t>
            </a:r>
            <a:r>
              <a:rPr lang="en-US" altLang="zh-CN" sz="2400" dirty="0" smtClean="0"/>
              <a:t> </a:t>
            </a:r>
            <a:r>
              <a:rPr lang="zh-CN" altLang="mr-IN" sz="2400" dirty="0" smtClean="0"/>
              <a:t>提高商品流通的效率</a:t>
            </a:r>
            <a:endParaRPr lang="en-US" altLang="zh-CN" sz="2400" dirty="0"/>
          </a:p>
          <a:p>
            <a:pPr marL="0" indent="0">
              <a:buNone/>
            </a:pPr>
            <a:r>
              <a:rPr lang="en-US" altLang="zh-CN" sz="2400" dirty="0"/>
              <a:t>(</a:t>
            </a:r>
            <a:r>
              <a:rPr lang="zh-CN" altLang="en-US" sz="2400" dirty="0"/>
              <a:t>二</a:t>
            </a:r>
            <a:r>
              <a:rPr lang="en-US" altLang="zh-CN" sz="2400" dirty="0"/>
              <a:t>) </a:t>
            </a:r>
            <a:r>
              <a:rPr lang="zh-CN" altLang="en-US" sz="2400" dirty="0" smtClean="0"/>
              <a:t>缩短资本转化周期 </a:t>
            </a:r>
            <a:endParaRPr lang="zh-CN" altLang="en-US" sz="2400" dirty="0"/>
          </a:p>
          <a:p>
            <a:pPr marL="0" indent="0">
              <a:buNone/>
            </a:pPr>
            <a:r>
              <a:rPr lang="en-US" altLang="zh-CN" sz="2400" dirty="0"/>
              <a:t>(</a:t>
            </a:r>
            <a:r>
              <a:rPr lang="zh-CN" altLang="en-US" sz="2400" dirty="0"/>
              <a:t>三</a:t>
            </a:r>
            <a:r>
              <a:rPr lang="en-US" altLang="zh-CN" sz="2400" dirty="0"/>
              <a:t>) </a:t>
            </a:r>
            <a:r>
              <a:rPr lang="zh-CN" altLang="en-US" sz="2400" dirty="0" smtClean="0"/>
              <a:t>促进资本增值 </a:t>
            </a:r>
            <a:endParaRPr lang="zh-CN" altLang="en-US" sz="2400" dirty="0"/>
          </a:p>
          <a:p>
            <a:pPr marL="0" indent="0">
              <a:buNone/>
            </a:pPr>
            <a:r>
              <a:rPr lang="zh-CN" altLang="mr-IN" dirty="0" smtClean="0"/>
              <a:t> </a:t>
            </a:r>
            <a:endParaRPr lang="mr-IN" altLang="zh-CN" dirty="0"/>
          </a:p>
        </p:txBody>
      </p:sp>
      <p:sp>
        <p:nvSpPr>
          <p:cNvPr id="7171" name="标题 1"/>
          <p:cNvSpPr>
            <a:spLocks noGrp="1"/>
          </p:cNvSpPr>
          <p:nvPr>
            <p:ph type="title"/>
          </p:nvPr>
        </p:nvSpPr>
        <p:spPr>
          <a:xfrm>
            <a:off x="179388" y="144463"/>
            <a:ext cx="7993062" cy="836612"/>
          </a:xfrm>
          <a:noFill/>
          <a:ln>
            <a:noFill/>
          </a:ln>
        </p:spPr>
        <p:txBody>
          <a:bodyPr/>
          <a:lstStyle/>
          <a:p>
            <a:r>
              <a:rPr lang="zh-CN" altLang="en-US" sz="3200">
                <a:solidFill>
                  <a:schemeClr val="tx1"/>
                </a:solidFill>
                <a:latin typeface="Microsoft YaHei" charset="-122"/>
                <a:ea typeface="Microsoft YaHei" charset="-122"/>
                <a:cs typeface="Microsoft YaHei" charset="-122"/>
              </a:rPr>
              <a:t>第三节 </a:t>
            </a:r>
            <a:r>
              <a:rPr lang="zh-CN" altLang="en-US" sz="3200" smtClean="0">
                <a:solidFill>
                  <a:schemeClr val="tx1"/>
                </a:solidFill>
                <a:latin typeface="Microsoft YaHei" charset="-122"/>
                <a:ea typeface="Microsoft YaHei" charset="-122"/>
                <a:cs typeface="Microsoft YaHei" charset="-122"/>
              </a:rPr>
              <a:t>  社会主义市场经济与广告学</a:t>
            </a:r>
            <a:r>
              <a:rPr lang="zh-CN" altLang="en-US" sz="3200" smtClean="0">
                <a:latin typeface="Microsoft YaHei" charset="-122"/>
                <a:ea typeface="Microsoft YaHei" charset="-122"/>
                <a:cs typeface="Microsoft YaHei" charset="-122"/>
              </a:rPr>
              <a:t> </a:t>
            </a:r>
            <a:r>
              <a:rPr lang="zh-CN" altLang="en-US" dirty="0"/>
              <a:t/>
            </a:r>
            <a:br>
              <a:rPr lang="zh-CN" altLang="en-US" dirty="0"/>
            </a:br>
            <a:r>
              <a:rPr lang="zh-CN" altLang="en-US" kern="1200" dirty="0">
                <a:latin typeface="黑体" panose="02010609060101010101" pitchFamily="49" charset="-122"/>
                <a:ea typeface="黑体" panose="02010609060101010101" pitchFamily="49" charset="-122"/>
                <a:cs typeface="+mj-cs"/>
              </a:rPr>
              <a:t/>
            </a:r>
            <a:br>
              <a:rPr lang="zh-CN" altLang="en-US" kern="1200" dirty="0">
                <a:latin typeface="黑体" panose="02010609060101010101" pitchFamily="49" charset="-122"/>
                <a:ea typeface="黑体" panose="02010609060101010101" pitchFamily="49" charset="-122"/>
                <a:cs typeface="+mj-cs"/>
              </a:rPr>
            </a:br>
            <a:endParaRPr lang="zh-CN" altLang="en-US" kern="1200" dirty="0">
              <a:latin typeface="黑体" panose="02010609060101010101" pitchFamily="49" charset="-122"/>
              <a:ea typeface="黑体" panose="02010609060101010101" pitchFamily="49" charset="-122"/>
              <a:cs typeface="+mj-cs"/>
            </a:endParaRPr>
          </a:p>
        </p:txBody>
      </p:sp>
    </p:spTree>
    <p:extLst>
      <p:ext uri="{BB962C8B-B14F-4D97-AF65-F5344CB8AC3E}">
        <p14:creationId xmlns:p14="http://schemas.microsoft.com/office/powerpoint/2010/main" val="22487040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内容占位符 2"/>
          <p:cNvSpPr>
            <a:spLocks noGrp="1"/>
          </p:cNvSpPr>
          <p:nvPr>
            <p:ph idx="1"/>
          </p:nvPr>
        </p:nvSpPr>
        <p:spPr>
          <a:xfrm>
            <a:off x="395288" y="1379538"/>
            <a:ext cx="8640762" cy="5145087"/>
          </a:xfrm>
          <a:noFill/>
          <a:ln>
            <a:noFill/>
          </a:ln>
        </p:spPr>
        <p:txBody>
          <a:bodyPr/>
          <a:lstStyle/>
          <a:p>
            <a:pPr marL="0" indent="0">
              <a:buNone/>
            </a:pPr>
            <a:r>
              <a:rPr lang="zh-CN" altLang="en-US" kern="1200" smtClean="0"/>
              <a:t>     </a:t>
            </a:r>
            <a:endParaRPr lang="en-US" altLang="zh-CN" kern="1200" dirty="0" smtClean="0"/>
          </a:p>
          <a:p>
            <a:pPr marL="0" indent="0">
              <a:buNone/>
            </a:pPr>
            <a:endParaRPr lang="zh-CN" altLang="en-US" kern="1200" dirty="0">
              <a:latin typeface="+mn-lt"/>
              <a:ea typeface="+mn-ea"/>
              <a:cs typeface="+mn-cs"/>
            </a:endParaRPr>
          </a:p>
          <a:p>
            <a:pPr marL="0" indent="0">
              <a:buNone/>
            </a:pPr>
            <a:endParaRPr lang="zh-CN" altLang="en-US" kern="1200" dirty="0">
              <a:latin typeface="+mn-lt"/>
              <a:ea typeface="+mn-ea"/>
              <a:cs typeface="+mn-cs"/>
            </a:endParaRPr>
          </a:p>
        </p:txBody>
      </p:sp>
      <p:sp>
        <p:nvSpPr>
          <p:cNvPr id="7171" name="标题 1"/>
          <p:cNvSpPr>
            <a:spLocks noGrp="1"/>
          </p:cNvSpPr>
          <p:nvPr>
            <p:ph type="title"/>
          </p:nvPr>
        </p:nvSpPr>
        <p:spPr>
          <a:xfrm>
            <a:off x="179388" y="144463"/>
            <a:ext cx="7993062" cy="836612"/>
          </a:xfrm>
          <a:noFill/>
          <a:ln>
            <a:noFill/>
          </a:ln>
        </p:spPr>
        <p:txBody>
          <a:bodyPr/>
          <a:lstStyle/>
          <a:p>
            <a:r>
              <a:rPr lang="zh-CN" altLang="en-US">
                <a:solidFill>
                  <a:srgbClr val="FF0000"/>
                </a:solidFill>
              </a:rPr>
              <a:t>二、社会主义市场环境与广告观念变迁</a:t>
            </a:r>
            <a:r>
              <a:rPr lang="en-US" altLang="zh-CN">
                <a:solidFill>
                  <a:srgbClr val="FF0000"/>
                </a:solidFill>
              </a:rPr>
              <a:t/>
            </a:r>
            <a:br>
              <a:rPr lang="en-US" altLang="zh-CN">
                <a:solidFill>
                  <a:srgbClr val="FF0000"/>
                </a:solidFill>
              </a:rPr>
            </a:br>
            <a:endParaRPr lang="zh-CN" altLang="en-US" kern="1200" dirty="0">
              <a:solidFill>
                <a:srgbClr val="FF0000"/>
              </a:solidFill>
            </a:endParaRPr>
          </a:p>
        </p:txBody>
      </p:sp>
      <p:sp>
        <p:nvSpPr>
          <p:cNvPr id="8" name="矩形 7"/>
          <p:cNvSpPr/>
          <p:nvPr/>
        </p:nvSpPr>
        <p:spPr>
          <a:xfrm>
            <a:off x="900113" y="2344738"/>
            <a:ext cx="7343775" cy="74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9" name="等腰三角形 18"/>
          <p:cNvSpPr/>
          <p:nvPr/>
        </p:nvSpPr>
        <p:spPr>
          <a:xfrm rot="5400000">
            <a:off x="8243888" y="2238375"/>
            <a:ext cx="287337" cy="28733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10" name="椭圆 9"/>
          <p:cNvSpPr/>
          <p:nvPr/>
        </p:nvSpPr>
        <p:spPr>
          <a:xfrm>
            <a:off x="1976438" y="2278063"/>
            <a:ext cx="201612" cy="2095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11" name="椭圆 10"/>
          <p:cNvSpPr/>
          <p:nvPr/>
        </p:nvSpPr>
        <p:spPr>
          <a:xfrm>
            <a:off x="3523098" y="2273226"/>
            <a:ext cx="201612" cy="2095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12" name="椭圆 11"/>
          <p:cNvSpPr/>
          <p:nvPr/>
        </p:nvSpPr>
        <p:spPr>
          <a:xfrm>
            <a:off x="5087002" y="2290024"/>
            <a:ext cx="201612" cy="2095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13" name="椭圆 12"/>
          <p:cNvSpPr/>
          <p:nvPr/>
        </p:nvSpPr>
        <p:spPr>
          <a:xfrm>
            <a:off x="6852519" y="2273226"/>
            <a:ext cx="201612" cy="2095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noProof="1"/>
          </a:p>
        </p:txBody>
      </p:sp>
      <p:sp>
        <p:nvSpPr>
          <p:cNvPr id="15" name="文本框 14"/>
          <p:cNvSpPr txBox="1">
            <a:spLocks noChangeArrowheads="1"/>
          </p:cNvSpPr>
          <p:nvPr/>
        </p:nvSpPr>
        <p:spPr bwMode="auto">
          <a:xfrm>
            <a:off x="1194737" y="2515042"/>
            <a:ext cx="1361040"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gn="ctr"/>
            <a:r>
              <a:rPr lang="en-US" altLang="zh-CN" dirty="0" smtClean="0"/>
              <a:t>1978</a:t>
            </a:r>
            <a:r>
              <a:rPr lang="zh-CN" altLang="en-US" dirty="0" smtClean="0"/>
              <a:t>年党的十一届三中全会</a:t>
            </a:r>
            <a:endParaRPr lang="en-US" altLang="zh-CN" dirty="0" smtClean="0"/>
          </a:p>
          <a:p>
            <a:pPr algn="ctr"/>
            <a:r>
              <a:rPr lang="zh-CN" altLang="en-US" dirty="0" smtClean="0"/>
              <a:t>广告复苏；</a:t>
            </a:r>
            <a:endParaRPr lang="en-US" altLang="zh-CN" dirty="0" smtClean="0"/>
          </a:p>
          <a:p>
            <a:pPr algn="ctr"/>
            <a:r>
              <a:rPr lang="en-US" altLang="zh-CN" dirty="0" smtClean="0"/>
              <a:t>1979</a:t>
            </a:r>
            <a:r>
              <a:rPr lang="zh-CN" altLang="en-US" dirty="0" smtClean="0"/>
              <a:t>年</a:t>
            </a:r>
            <a:endParaRPr lang="en-US" altLang="zh-CN" dirty="0" smtClean="0"/>
          </a:p>
          <a:p>
            <a:pPr algn="ctr"/>
            <a:r>
              <a:rPr lang="zh-CN" altLang="en-US" dirty="0" smtClean="0"/>
              <a:t>丁允鹏</a:t>
            </a:r>
            <a:endParaRPr lang="en-US" altLang="zh-CN" dirty="0" smtClean="0"/>
          </a:p>
          <a:p>
            <a:pPr algn="ctr"/>
            <a:r>
              <a:rPr lang="en-US" altLang="zh-CN" dirty="0" smtClean="0"/>
              <a:t>《</a:t>
            </a:r>
            <a:r>
              <a:rPr lang="zh-CN" altLang="en-US" dirty="0" smtClean="0"/>
              <a:t>为广告正名</a:t>
            </a:r>
            <a:r>
              <a:rPr lang="en-US" altLang="zh-CN" dirty="0" smtClean="0"/>
              <a:t>》</a:t>
            </a:r>
            <a:r>
              <a:rPr lang="zh-CN" altLang="en-US" dirty="0" smtClean="0"/>
              <a:t>。这一时期我国广告观念的关键词是</a:t>
            </a:r>
            <a:r>
              <a:rPr lang="zh-CN" altLang="en-US" b="1" dirty="0" smtClean="0"/>
              <a:t>“正名”</a:t>
            </a:r>
          </a:p>
          <a:p>
            <a:pPr algn="ctr"/>
            <a:endParaRPr lang="en-US" altLang="zh-CN" dirty="0" smtClean="0"/>
          </a:p>
        </p:txBody>
      </p:sp>
      <p:sp>
        <p:nvSpPr>
          <p:cNvPr id="16" name="文本框 15"/>
          <p:cNvSpPr txBox="1">
            <a:spLocks noChangeArrowheads="1"/>
          </p:cNvSpPr>
          <p:nvPr/>
        </p:nvSpPr>
        <p:spPr bwMode="auto">
          <a:xfrm>
            <a:off x="2893812" y="2537490"/>
            <a:ext cx="1460184"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gn="ctr"/>
            <a:r>
              <a:rPr lang="en-US" altLang="zh-CN" dirty="0" smtClean="0"/>
              <a:t>1992</a:t>
            </a:r>
            <a:r>
              <a:rPr lang="zh-CN" altLang="en-US" dirty="0" smtClean="0"/>
              <a:t>年</a:t>
            </a:r>
            <a:r>
              <a:rPr lang="zh-CN" altLang="en-US" smtClean="0"/>
              <a:t>邓小平南方谈话</a:t>
            </a:r>
            <a:r>
              <a:rPr lang="zh-CN" altLang="en-US" dirty="0" smtClean="0"/>
              <a:t>，中国改革开放进入新阶段，广告行业</a:t>
            </a:r>
            <a:r>
              <a:rPr lang="zh-CN" altLang="en-US" dirty="0"/>
              <a:t>步入快速增长期。此阶段我国广告观念的关键词为 </a:t>
            </a:r>
            <a:r>
              <a:rPr lang="zh-CN" altLang="en-US" b="1" dirty="0"/>
              <a:t>“市场” </a:t>
            </a:r>
          </a:p>
          <a:p>
            <a:pPr algn="ctr"/>
            <a:endParaRPr lang="en-US" altLang="zh-CN" dirty="0" smtClean="0"/>
          </a:p>
        </p:txBody>
      </p:sp>
      <p:sp>
        <p:nvSpPr>
          <p:cNvPr id="17" name="文本框 16"/>
          <p:cNvSpPr txBox="1">
            <a:spLocks noChangeArrowheads="1"/>
          </p:cNvSpPr>
          <p:nvPr/>
        </p:nvSpPr>
        <p:spPr bwMode="auto">
          <a:xfrm>
            <a:off x="4653462" y="2474064"/>
            <a:ext cx="1430705"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gn="ctr"/>
            <a:r>
              <a:rPr lang="en-US" altLang="zh-CN" dirty="0" smtClean="0"/>
              <a:t>2001</a:t>
            </a:r>
            <a:r>
              <a:rPr lang="zh-CN" altLang="en-US" dirty="0" smtClean="0"/>
              <a:t>年中国加入世界贸易组织 ，</a:t>
            </a:r>
            <a:r>
              <a:rPr lang="en-US" altLang="zh-CN" dirty="0" smtClean="0"/>
              <a:t>2008</a:t>
            </a:r>
            <a:r>
              <a:rPr lang="zh-CN" altLang="en-US" dirty="0" smtClean="0"/>
              <a:t>年北京奥运会成功举办。此阶段我国广告观念的关键词是 </a:t>
            </a:r>
            <a:r>
              <a:rPr lang="zh-CN" altLang="en-US" b="1" dirty="0" smtClean="0"/>
              <a:t>“国际化”。 </a:t>
            </a:r>
          </a:p>
          <a:p>
            <a:pPr algn="ctr"/>
            <a:endParaRPr lang="zh-CN" altLang="en-US" dirty="0"/>
          </a:p>
          <a:p>
            <a:pPr algn="ctr"/>
            <a:endParaRPr lang="zh-CN" altLang="en-US" b="1" dirty="0" smtClean="0"/>
          </a:p>
          <a:p>
            <a:pPr algn="ctr"/>
            <a:endParaRPr lang="en-US" altLang="zh-CN" dirty="0" smtClean="0"/>
          </a:p>
        </p:txBody>
      </p:sp>
      <p:sp>
        <p:nvSpPr>
          <p:cNvPr id="18" name="文本框 17"/>
          <p:cNvSpPr txBox="1">
            <a:spLocks noChangeArrowheads="1"/>
          </p:cNvSpPr>
          <p:nvPr/>
        </p:nvSpPr>
        <p:spPr bwMode="auto">
          <a:xfrm>
            <a:off x="6350782" y="2474064"/>
            <a:ext cx="1361040" cy="535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gn="ctr"/>
            <a:r>
              <a:rPr lang="en-US" altLang="zh-CN" dirty="0" smtClean="0"/>
              <a:t>2009</a:t>
            </a:r>
            <a:r>
              <a:rPr lang="zh-CN" altLang="en-US" dirty="0" smtClean="0"/>
              <a:t>年后新</a:t>
            </a:r>
            <a:r>
              <a:rPr lang="zh-CN" altLang="en-US" dirty="0"/>
              <a:t>技术深刻改变了社会结构、市场环境与人们的日常</a:t>
            </a:r>
            <a:r>
              <a:rPr lang="zh-CN" altLang="en-US" dirty="0" smtClean="0"/>
              <a:t>生活，</a:t>
            </a:r>
            <a:r>
              <a:rPr lang="zh-CN" altLang="en-US" dirty="0"/>
              <a:t>也影响着经济发展的方式与行业生态环境</a:t>
            </a:r>
            <a:r>
              <a:rPr lang="zh-CN" altLang="en-US" dirty="0" smtClean="0"/>
              <a:t>。</a:t>
            </a:r>
            <a:r>
              <a:rPr lang="zh-CN" altLang="en-US" dirty="0"/>
              <a:t>此阶段我 国广告观念的关键词是 </a:t>
            </a:r>
            <a:r>
              <a:rPr lang="zh-CN" altLang="en-US" b="1" dirty="0"/>
              <a:t>“数字化”</a:t>
            </a:r>
            <a:r>
              <a:rPr lang="zh-CN" altLang="en-US" dirty="0"/>
              <a:t>。 </a:t>
            </a:r>
          </a:p>
          <a:p>
            <a:pPr algn="ctr"/>
            <a:r>
              <a:rPr lang="zh-CN" altLang="en-US" dirty="0" smtClean="0"/>
              <a:t> </a:t>
            </a:r>
            <a:endParaRPr lang="zh-CN" altLang="en-US" dirty="0"/>
          </a:p>
          <a:p>
            <a:pPr algn="ctr"/>
            <a:r>
              <a:rPr lang="zh-CN" altLang="en-US" dirty="0" smtClean="0"/>
              <a:t> </a:t>
            </a:r>
            <a:endParaRPr lang="zh-CN" altLang="en-US" dirty="0"/>
          </a:p>
          <a:p>
            <a:pPr algn="ctr"/>
            <a:endParaRPr lang="zh-CN" altLang="en-US" b="1" dirty="0" smtClean="0"/>
          </a:p>
          <a:p>
            <a:pPr algn="ctr"/>
            <a:endParaRPr lang="en-US" altLang="zh-CN" dirty="0" smtClean="0"/>
          </a:p>
        </p:txBody>
      </p:sp>
    </p:spTree>
    <p:extLst>
      <p:ext uri="{BB962C8B-B14F-4D97-AF65-F5344CB8AC3E}">
        <p14:creationId xmlns:p14="http://schemas.microsoft.com/office/powerpoint/2010/main" val="21172337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内容占位符 2"/>
          <p:cNvSpPr>
            <a:spLocks noGrp="1"/>
          </p:cNvSpPr>
          <p:nvPr>
            <p:ph idx="1"/>
          </p:nvPr>
        </p:nvSpPr>
        <p:spPr>
          <a:xfrm>
            <a:off x="395288" y="1379538"/>
            <a:ext cx="8640762" cy="5145087"/>
          </a:xfrm>
          <a:noFill/>
          <a:ln>
            <a:noFill/>
          </a:ln>
        </p:spPr>
        <p:txBody>
          <a:bodyPr/>
          <a:lstStyle/>
          <a:p>
            <a:pPr marL="0" indent="0">
              <a:buNone/>
            </a:pPr>
            <a:endParaRPr lang="en-US" altLang="zh-CN" dirty="0"/>
          </a:p>
          <a:p>
            <a:pPr marL="0" indent="0">
              <a:buNone/>
            </a:pPr>
            <a:r>
              <a:rPr lang="en-US" altLang="zh-CN" sz="3600" dirty="0"/>
              <a:t>(</a:t>
            </a:r>
            <a:r>
              <a:rPr lang="zh-CN" altLang="en-US" sz="3600" dirty="0"/>
              <a:t>一 </a:t>
            </a:r>
            <a:r>
              <a:rPr lang="en-US" altLang="zh-CN" sz="3600" dirty="0"/>
              <a:t>) </a:t>
            </a:r>
            <a:r>
              <a:rPr lang="zh-CN" altLang="en-US" sz="3600" dirty="0" smtClean="0"/>
              <a:t>服 务 </a:t>
            </a:r>
            <a:r>
              <a:rPr lang="zh-CN" altLang="en-US" sz="3600" dirty="0"/>
              <a:t>与 促 进 社 会 主 义 建 设 </a:t>
            </a:r>
          </a:p>
          <a:p>
            <a:pPr marL="0" indent="0">
              <a:buNone/>
            </a:pPr>
            <a:r>
              <a:rPr lang="en-US" altLang="zh-CN" sz="3600" dirty="0"/>
              <a:t>(</a:t>
            </a:r>
            <a:r>
              <a:rPr lang="zh-CN" altLang="en-US" sz="3600" dirty="0"/>
              <a:t>二 </a:t>
            </a:r>
            <a:r>
              <a:rPr lang="en-US" altLang="zh-CN" sz="3600" dirty="0"/>
              <a:t>) </a:t>
            </a:r>
            <a:r>
              <a:rPr lang="zh-CN" altLang="en-US" sz="3600" dirty="0"/>
              <a:t>以 消 费 者 为 本 </a:t>
            </a:r>
            <a:r>
              <a:rPr lang="zh-CN" altLang="en-US" sz="3600" dirty="0" smtClean="0"/>
              <a:t>位</a:t>
            </a:r>
            <a:r>
              <a:rPr lang="en-US" altLang="zh-CN" sz="3600" dirty="0" smtClean="0"/>
              <a:t>,</a:t>
            </a:r>
            <a:r>
              <a:rPr lang="zh-CN" altLang="en-US" sz="3600" dirty="0" smtClean="0"/>
              <a:t>但也需保障商家基本的利益 </a:t>
            </a:r>
            <a:endParaRPr lang="zh-CN" altLang="en-US" sz="3600" dirty="0"/>
          </a:p>
          <a:p>
            <a:pPr marL="0" indent="0">
              <a:buNone/>
            </a:pPr>
            <a:r>
              <a:rPr lang="en-US" altLang="zh-CN" sz="3600" dirty="0"/>
              <a:t>(</a:t>
            </a:r>
            <a:r>
              <a:rPr lang="zh-CN" altLang="en-US" sz="3600" dirty="0"/>
              <a:t>三 </a:t>
            </a:r>
            <a:r>
              <a:rPr lang="en-US" altLang="zh-CN" sz="3600" dirty="0"/>
              <a:t>) </a:t>
            </a:r>
            <a:r>
              <a:rPr lang="zh-CN" altLang="en-US" sz="3600" dirty="0"/>
              <a:t>坚 持 法 律 与 道 德 的 双 重 要 求 </a:t>
            </a:r>
          </a:p>
          <a:p>
            <a:pPr marL="0" indent="0">
              <a:buNone/>
            </a:pPr>
            <a:r>
              <a:rPr lang="en-US" altLang="zh-CN" sz="3600" dirty="0"/>
              <a:t>(</a:t>
            </a:r>
            <a:r>
              <a:rPr lang="zh-CN" altLang="en-US" sz="3600" dirty="0"/>
              <a:t>四 </a:t>
            </a:r>
            <a:r>
              <a:rPr lang="en-US" altLang="zh-CN" sz="3600" dirty="0"/>
              <a:t>) </a:t>
            </a:r>
            <a:r>
              <a:rPr lang="zh-CN" altLang="en-US" sz="3600" dirty="0"/>
              <a:t>反 对 过 度 的 商 业 利 益 取 向 </a:t>
            </a:r>
          </a:p>
          <a:p>
            <a:pPr marL="0" indent="0">
              <a:buNone/>
            </a:pPr>
            <a:endParaRPr lang="zh-CN" altLang="en-US" sz="3600" kern="1200" dirty="0"/>
          </a:p>
          <a:p>
            <a:pPr marL="0" indent="0">
              <a:buNone/>
            </a:pPr>
            <a:endParaRPr lang="zh-CN" altLang="en-US" kern="1200" dirty="0">
              <a:latin typeface="+mn-lt"/>
              <a:ea typeface="+mn-ea"/>
              <a:cs typeface="+mn-cs"/>
            </a:endParaRPr>
          </a:p>
        </p:txBody>
      </p:sp>
      <p:sp>
        <p:nvSpPr>
          <p:cNvPr id="7171" name="标题 1"/>
          <p:cNvSpPr>
            <a:spLocks noGrp="1"/>
          </p:cNvSpPr>
          <p:nvPr>
            <p:ph type="title"/>
          </p:nvPr>
        </p:nvSpPr>
        <p:spPr>
          <a:xfrm>
            <a:off x="179388" y="144463"/>
            <a:ext cx="7993062" cy="836612"/>
          </a:xfrm>
          <a:noFill/>
          <a:ln>
            <a:noFill/>
          </a:ln>
        </p:spPr>
        <p:txBody>
          <a:bodyPr/>
          <a:lstStyle/>
          <a:p>
            <a:r>
              <a:rPr lang="zh-CN" altLang="en-US" smtClean="0">
                <a:solidFill>
                  <a:srgbClr val="FF0000"/>
                </a:solidFill>
              </a:rPr>
              <a:t>三、牢记中国广告价值观</a:t>
            </a:r>
            <a:r>
              <a:rPr lang="en-US" altLang="zh-CN">
                <a:solidFill>
                  <a:srgbClr val="FF0000"/>
                </a:solidFill>
              </a:rPr>
              <a:t/>
            </a:r>
            <a:br>
              <a:rPr lang="en-US" altLang="zh-CN">
                <a:solidFill>
                  <a:srgbClr val="FF0000"/>
                </a:solidFill>
              </a:rPr>
            </a:br>
            <a:endParaRPr lang="zh-CN" altLang="en-US" kern="1200" dirty="0">
              <a:solidFill>
                <a:srgbClr val="FF0000"/>
              </a:solidFill>
            </a:endParaRPr>
          </a:p>
        </p:txBody>
      </p:sp>
    </p:spTree>
    <p:extLst>
      <p:ext uri="{BB962C8B-B14F-4D97-AF65-F5344CB8AC3E}">
        <p14:creationId xmlns:p14="http://schemas.microsoft.com/office/powerpoint/2010/main" val="21172337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2800" b="1" kern="0" smtClean="0">
                <a:solidFill>
                  <a:srgbClr val="FF0000"/>
                </a:solidFill>
                <a:latin typeface="Tahoma"/>
              </a:rPr>
              <a:t>案例：李诞代言女性内衣广告违规被罚</a:t>
            </a:r>
            <a:r>
              <a:rPr lang="en-US" altLang="zh-CN" sz="2800" b="1" kern="0" smtClean="0">
                <a:solidFill>
                  <a:srgbClr val="FF0000"/>
                </a:solidFill>
                <a:latin typeface="Tahoma"/>
              </a:rPr>
              <a:t>87</a:t>
            </a:r>
            <a:r>
              <a:rPr lang="zh-CN" altLang="en-US" sz="2800" b="1" kern="0" smtClean="0">
                <a:solidFill>
                  <a:srgbClr val="FF0000"/>
                </a:solidFill>
                <a:latin typeface="Tahoma"/>
              </a:rPr>
              <a:t>万</a:t>
            </a:r>
            <a:r>
              <a:rPr lang="en-US" altLang="zh-CN" b="1" kern="0">
                <a:solidFill>
                  <a:srgbClr val="FF0000"/>
                </a:solidFill>
                <a:latin typeface="Tahoma"/>
              </a:rPr>
              <a:t/>
            </a:r>
            <a:br>
              <a:rPr lang="en-US" altLang="zh-CN" b="1" kern="0">
                <a:solidFill>
                  <a:srgbClr val="FF0000"/>
                </a:solidFill>
                <a:latin typeface="Tahoma"/>
              </a:rPr>
            </a:br>
            <a:endParaRPr lang="zh-CN" altLang="en-US"/>
          </a:p>
        </p:txBody>
      </p:sp>
      <p:sp>
        <p:nvSpPr>
          <p:cNvPr id="3" name="内容占位符 2"/>
          <p:cNvSpPr>
            <a:spLocks noGrp="1"/>
          </p:cNvSpPr>
          <p:nvPr>
            <p:ph idx="1"/>
          </p:nvPr>
        </p:nvSpPr>
        <p:spPr/>
        <p:txBody>
          <a:bodyPr/>
          <a:lstStyle/>
          <a:p>
            <a:pPr lvl="0">
              <a:buClr>
                <a:srgbClr val="3333CC"/>
              </a:buClr>
              <a:buSzPct val="60000"/>
              <a:buFont typeface="Wingdings" pitchFamily="2" charset="2"/>
              <a:buChar char="n"/>
            </a:pPr>
            <a:r>
              <a:rPr lang="en-US" altLang="zh-CN" sz="2400" kern="0" smtClean="0">
                <a:solidFill>
                  <a:srgbClr val="000000"/>
                </a:solidFill>
                <a:latin typeface="Tahoma"/>
              </a:rPr>
              <a:t>2021</a:t>
            </a:r>
            <a:r>
              <a:rPr lang="zh-CN" altLang="en-US" sz="2400" kern="0">
                <a:solidFill>
                  <a:srgbClr val="000000"/>
                </a:solidFill>
                <a:latin typeface="Tahoma"/>
              </a:rPr>
              <a:t>年</a:t>
            </a:r>
            <a:r>
              <a:rPr lang="en-US" altLang="zh-CN" sz="2400" kern="0">
                <a:solidFill>
                  <a:srgbClr val="000000"/>
                </a:solidFill>
                <a:latin typeface="Tahoma"/>
              </a:rPr>
              <a:t>2</a:t>
            </a:r>
            <a:r>
              <a:rPr lang="zh-CN" altLang="en-US" sz="2400" kern="0">
                <a:solidFill>
                  <a:srgbClr val="000000"/>
                </a:solidFill>
                <a:latin typeface="Tahoma"/>
              </a:rPr>
              <a:t>月</a:t>
            </a:r>
            <a:r>
              <a:rPr lang="en-US" altLang="zh-CN" sz="2400" kern="0">
                <a:solidFill>
                  <a:srgbClr val="000000"/>
                </a:solidFill>
                <a:latin typeface="Tahoma"/>
              </a:rPr>
              <a:t>14</a:t>
            </a:r>
            <a:r>
              <a:rPr lang="zh-CN" altLang="en-US" sz="2400" kern="0">
                <a:solidFill>
                  <a:srgbClr val="000000"/>
                </a:solidFill>
                <a:latin typeface="Tahoma"/>
              </a:rPr>
              <a:t>情人节，当事人在其个人微博号发布了品牌女性内衣广告。内容含有“一个让女性轻松躺赢职场的装备”、“我说没有我带不了的货，你就说信不信吧”等内容，附带当事人推介该商品的视频。该广告因涉嫌歧视女性引发社会关注。</a:t>
            </a:r>
            <a:endParaRPr lang="en-US" altLang="zh-CN" sz="2400" kern="0">
              <a:solidFill>
                <a:srgbClr val="000000"/>
              </a:solidFill>
              <a:latin typeface="Tahoma"/>
            </a:endParaRPr>
          </a:p>
          <a:p>
            <a:endParaRPr lang="zh-CN" altLang="en-US"/>
          </a:p>
        </p:txBody>
      </p:sp>
    </p:spTree>
    <p:extLst>
      <p:ext uri="{BB962C8B-B14F-4D97-AF65-F5344CB8AC3E}">
        <p14:creationId xmlns:p14="http://schemas.microsoft.com/office/powerpoint/2010/main" val="26695953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7505" y="2174943"/>
            <a:ext cx="5505165" cy="3554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90237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06870" y="2461480"/>
            <a:ext cx="5206435" cy="2981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82995141"/>
      </p:ext>
    </p:extLst>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15914</TotalTime>
  <Words>1739</Words>
  <Application>Microsoft Office PowerPoint</Application>
  <PresentationFormat>全屏显示(4:3)</PresentationFormat>
  <Paragraphs>160</Paragraphs>
  <Slides>25</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25</vt:i4>
      </vt:variant>
    </vt:vector>
  </HeadingPairs>
  <TitlesOfParts>
    <vt:vector size="36" baseType="lpstr">
      <vt:lpstr>DengXian</vt:lpstr>
      <vt:lpstr>黑体</vt:lpstr>
      <vt:lpstr>华文新魏</vt:lpstr>
      <vt:lpstr>隶书</vt:lpstr>
      <vt:lpstr>宋体</vt:lpstr>
      <vt:lpstr>Microsoft YaHei</vt:lpstr>
      <vt:lpstr>Microsoft YaHei</vt:lpstr>
      <vt:lpstr>Arial</vt:lpstr>
      <vt:lpstr>Tahoma</vt:lpstr>
      <vt:lpstr>Wingdings</vt:lpstr>
      <vt:lpstr>默认设计模板</vt:lpstr>
      <vt:lpstr>绪  论</vt:lpstr>
      <vt:lpstr>第一节  广告学的学科体系 </vt:lpstr>
      <vt:lpstr>二、广告学的研究方法 </vt:lpstr>
      <vt:lpstr>三、广告学的学科体系构成及与相关学科的关系 </vt:lpstr>
      <vt:lpstr>（二）广告学的性质与相关学科的关系</vt:lpstr>
      <vt:lpstr>PowerPoint 演示文稿</vt:lpstr>
      <vt:lpstr>（3）广告学是一门艺术 </vt:lpstr>
      <vt:lpstr>如何在艺术效果和商业价值之间寻找到一个比较好的平衡点？</vt:lpstr>
      <vt:lpstr>喧宾夺主的鞋店店招广告</vt:lpstr>
      <vt:lpstr> 2.广告学和相关学科的关系  </vt:lpstr>
      <vt:lpstr>拓展知识点：广告与公关的关系</vt:lpstr>
      <vt:lpstr>PowerPoint 演示文稿</vt:lpstr>
      <vt:lpstr>(一)广告与公共关系之间的密切性 </vt:lpstr>
      <vt:lpstr>(二)广告与公共关系之间的差异性 </vt:lpstr>
      <vt:lpstr>PowerPoint 演示文稿</vt:lpstr>
      <vt:lpstr>四、学习广告学的意义与方法（P3-4) </vt:lpstr>
      <vt:lpstr>（三）学好广告学需把握的原则</vt:lpstr>
      <vt:lpstr>第二节 广告学的产生与发展 </vt:lpstr>
      <vt:lpstr>三、广告学在国外的发展 </vt:lpstr>
      <vt:lpstr>第三节   社会主义市场经济与广告学   </vt:lpstr>
      <vt:lpstr>二、社会主义市场环境与广告观念变迁 </vt:lpstr>
      <vt:lpstr>三、牢记中国广告价值观 </vt:lpstr>
      <vt:lpstr>案例：李诞代言女性内衣广告违规被罚87万 </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马工程网站修改建议</dc:title>
  <dc:creator>Ali</dc:creator>
  <cp:lastModifiedBy>Windows 用户</cp:lastModifiedBy>
  <cp:revision>218</cp:revision>
  <dcterms:created xsi:type="dcterms:W3CDTF">2017-07-26T12:21:00Z</dcterms:created>
  <dcterms:modified xsi:type="dcterms:W3CDTF">2025-09-11T07:28:52Z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2052-10.1.0.6690</vt:lpwstr>
  </property>
</Properties>
</file>